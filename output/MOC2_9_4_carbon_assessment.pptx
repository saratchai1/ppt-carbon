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071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0624"/>
            <a:ext cx="329184" cy="0"/>
          </a:xfrm>
          <a:prstGeom prst="line">
            <a:avLst/>
          </a:prstGeom>
          <a:noFill/>
          <a:ln w="31750">
            <a:solidFill>
              <a:srgbClr val="4FD1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2743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8FA59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MOC2 • CARBON SCIENCE NOTE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F837A"/>
                </a:solidFill>
                <a:latin typeface="Noto Sans Thai"/>
                <a:ea typeface="Noto Sans Thai"/>
                <a:cs typeface="Noto Sans Tha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F837A"/>
                </a:solidFill>
                <a:latin typeface="Noto Sans Thai"/>
                <a:ea typeface="Noto Sans Thai"/>
                <a:cs typeface="Noto Sans Tha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822960"/>
            <a:ext cx="768096" cy="768096"/>
          </a:xfrm>
          <a:prstGeom prst="ellipse">
            <a:avLst/>
          </a:prstGeom>
          <a:solidFill>
            <a:srgbClr val="1E5B45">
              <a:alpha val="88000"/>
            </a:srgbClr>
          </a:solidFill>
          <a:ln w="7620">
            <a:solidFill>
              <a:srgbClr val="4FD1A1">
                <a:alpha val="1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822960"/>
            <a:ext cx="950976" cy="950976"/>
          </a:xfrm>
          <a:prstGeom prst="ellipse">
            <a:avLst/>
          </a:prstGeom>
          <a:solidFill>
            <a:srgbClr val="174532">
              <a:alpha val="88000"/>
            </a:srgbClr>
          </a:solidFill>
          <a:ln w="7620">
            <a:solidFill>
              <a:srgbClr val="4FD1A1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72016" y="822960"/>
            <a:ext cx="1133856" cy="1133856"/>
          </a:xfrm>
          <a:prstGeom prst="ellipse">
            <a:avLst/>
          </a:prstGeom>
          <a:solidFill>
            <a:srgbClr val="174532">
              <a:alpha val="88000"/>
            </a:srgbClr>
          </a:solidFill>
          <a:ln w="7620">
            <a:solidFill>
              <a:srgbClr val="4FD1A1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94976" y="822960"/>
            <a:ext cx="859536" cy="859536"/>
          </a:xfrm>
          <a:prstGeom prst="ellipse">
            <a:avLst/>
          </a:prstGeom>
          <a:solidFill>
            <a:srgbClr val="1E5B45">
              <a:alpha val="88000"/>
            </a:srgbClr>
          </a:solidFill>
          <a:ln w="7620">
            <a:solidFill>
              <a:srgbClr val="4FD1A1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88752" y="822960"/>
            <a:ext cx="1042416" cy="1042416"/>
          </a:xfrm>
          <a:prstGeom prst="ellipse">
            <a:avLst/>
          </a:prstGeom>
          <a:solidFill>
            <a:srgbClr val="174532">
              <a:alpha val="88000"/>
            </a:srgbClr>
          </a:solidFill>
          <a:ln w="7620">
            <a:solidFill>
              <a:srgbClr val="4FD1A1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19872" y="1572768"/>
            <a:ext cx="768096" cy="768096"/>
          </a:xfrm>
          <a:prstGeom prst="ellipse">
            <a:avLst/>
          </a:prstGeom>
          <a:solidFill>
            <a:srgbClr val="174532">
              <a:alpha val="88000"/>
            </a:srgbClr>
          </a:solidFill>
          <a:ln w="7620">
            <a:solidFill>
              <a:srgbClr val="4FD1A1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13648" y="1572768"/>
            <a:ext cx="950976" cy="950976"/>
          </a:xfrm>
          <a:prstGeom prst="ellipse">
            <a:avLst/>
          </a:prstGeom>
          <a:solidFill>
            <a:srgbClr val="1E5B45">
              <a:alpha val="88000"/>
            </a:srgbClr>
          </a:solidFill>
          <a:ln w="7620">
            <a:solidFill>
              <a:srgbClr val="4FD1A1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36608" y="1572768"/>
            <a:ext cx="1133856" cy="1133856"/>
          </a:xfrm>
          <a:prstGeom prst="ellipse">
            <a:avLst/>
          </a:prstGeom>
          <a:solidFill>
            <a:srgbClr val="174532">
              <a:alpha val="88000"/>
            </a:srgbClr>
          </a:solidFill>
          <a:ln w="7620">
            <a:solidFill>
              <a:srgbClr val="4FD1A1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30384" y="1572768"/>
            <a:ext cx="859536" cy="859536"/>
          </a:xfrm>
          <a:prstGeom prst="ellipse">
            <a:avLst/>
          </a:prstGeom>
          <a:solidFill>
            <a:srgbClr val="174532">
              <a:alpha val="88000"/>
            </a:srgbClr>
          </a:solidFill>
          <a:ln w="7620">
            <a:solidFill>
              <a:srgbClr val="4FD1A1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53344" y="1572768"/>
            <a:ext cx="1042416" cy="1042416"/>
          </a:xfrm>
          <a:prstGeom prst="ellipse">
            <a:avLst/>
          </a:prstGeom>
          <a:solidFill>
            <a:srgbClr val="1E5B45">
              <a:alpha val="88000"/>
            </a:srgbClr>
          </a:solidFill>
          <a:ln w="7620">
            <a:solidFill>
              <a:srgbClr val="4FD1A1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55280" y="2322576"/>
            <a:ext cx="768096" cy="768096"/>
          </a:xfrm>
          <a:prstGeom prst="ellipse">
            <a:avLst/>
          </a:prstGeom>
          <a:solidFill>
            <a:srgbClr val="174532">
              <a:alpha val="88000"/>
            </a:srgbClr>
          </a:solidFill>
          <a:ln w="7620">
            <a:solidFill>
              <a:srgbClr val="4FD1A1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0" y="2322576"/>
            <a:ext cx="950976" cy="950976"/>
          </a:xfrm>
          <a:prstGeom prst="ellipse">
            <a:avLst/>
          </a:prstGeom>
          <a:solidFill>
            <a:srgbClr val="174532">
              <a:alpha val="88000"/>
            </a:srgbClr>
          </a:solidFill>
          <a:ln w="7620">
            <a:solidFill>
              <a:srgbClr val="4FD1A1">
                <a:alpha val="1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72016" y="2322576"/>
            <a:ext cx="1133856" cy="1133856"/>
          </a:xfrm>
          <a:prstGeom prst="ellipse">
            <a:avLst/>
          </a:prstGeom>
          <a:solidFill>
            <a:srgbClr val="1E5B45">
              <a:alpha val="88000"/>
            </a:srgbClr>
          </a:solidFill>
          <a:ln w="7620">
            <a:solidFill>
              <a:srgbClr val="4FD1A1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94976" y="2322576"/>
            <a:ext cx="859536" cy="859536"/>
          </a:xfrm>
          <a:prstGeom prst="ellipse">
            <a:avLst/>
          </a:prstGeom>
          <a:solidFill>
            <a:srgbClr val="174532">
              <a:alpha val="88000"/>
            </a:srgbClr>
          </a:solidFill>
          <a:ln w="7620">
            <a:solidFill>
              <a:srgbClr val="4FD1A1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88752" y="2322576"/>
            <a:ext cx="1042416" cy="1042416"/>
          </a:xfrm>
          <a:prstGeom prst="ellipse">
            <a:avLst/>
          </a:prstGeom>
          <a:solidFill>
            <a:srgbClr val="174532">
              <a:alpha val="88000"/>
            </a:srgbClr>
          </a:solidFill>
          <a:ln w="7620">
            <a:solidFill>
              <a:srgbClr val="4FD1A1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19872" y="3072384"/>
            <a:ext cx="768096" cy="768096"/>
          </a:xfrm>
          <a:prstGeom prst="ellipse">
            <a:avLst/>
          </a:prstGeom>
          <a:solidFill>
            <a:srgbClr val="1E5B45">
              <a:alpha val="88000"/>
            </a:srgbClr>
          </a:solidFill>
          <a:ln w="7620">
            <a:solidFill>
              <a:srgbClr val="4FD1A1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13648" y="3072384"/>
            <a:ext cx="950976" cy="950976"/>
          </a:xfrm>
          <a:prstGeom prst="ellipse">
            <a:avLst/>
          </a:prstGeom>
          <a:solidFill>
            <a:srgbClr val="174532">
              <a:alpha val="88000"/>
            </a:srgbClr>
          </a:solidFill>
          <a:ln w="7620">
            <a:solidFill>
              <a:srgbClr val="4FD1A1">
                <a:alpha val="1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36608" y="3072384"/>
            <a:ext cx="1133856" cy="1133856"/>
          </a:xfrm>
          <a:prstGeom prst="ellipse">
            <a:avLst/>
          </a:prstGeom>
          <a:solidFill>
            <a:srgbClr val="174532">
              <a:alpha val="88000"/>
            </a:srgbClr>
          </a:solidFill>
          <a:ln w="7620">
            <a:solidFill>
              <a:srgbClr val="4FD1A1">
                <a:alpha val="1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30384" y="3072384"/>
            <a:ext cx="859536" cy="859536"/>
          </a:xfrm>
          <a:prstGeom prst="ellipse">
            <a:avLst/>
          </a:prstGeom>
          <a:solidFill>
            <a:srgbClr val="1E5B45">
              <a:alpha val="88000"/>
            </a:srgbClr>
          </a:solidFill>
          <a:ln w="7620">
            <a:solidFill>
              <a:srgbClr val="4FD1A1">
                <a:alpha val="1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53344" y="3072384"/>
            <a:ext cx="1042416" cy="1042416"/>
          </a:xfrm>
          <a:prstGeom prst="ellipse">
            <a:avLst/>
          </a:prstGeom>
          <a:solidFill>
            <a:srgbClr val="174532">
              <a:alpha val="88000"/>
            </a:srgbClr>
          </a:solidFill>
          <a:ln w="7620">
            <a:solidFill>
              <a:srgbClr val="4FD1A1">
                <a:alpha val="1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900000">
            <a:off x="7360920" y="2834640"/>
            <a:ext cx="4114800" cy="2926080"/>
          </a:xfrm>
          <a:prstGeom prst="arc">
            <a:avLst/>
          </a:prstGeom>
          <a:solidFill>
            <a:srgbClr val="07110E">
              <a:alpha val="0"/>
            </a:srgbClr>
          </a:solidFill>
          <a:ln w="127000">
            <a:solidFill>
              <a:srgbClr val="2B8E6B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" y="1170432"/>
            <a:ext cx="2011680" cy="384048"/>
          </a:xfrm>
          <a:prstGeom prst="roundRect">
            <a:avLst/>
          </a:prstGeom>
          <a:solidFill>
            <a:srgbClr val="132A22"/>
          </a:solidFill>
          <a:ln w="12700">
            <a:solidFill>
              <a:srgbClr val="132A22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12252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D1A1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MOC2 • SCIENCE / MRV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58368" y="1810512"/>
            <a:ext cx="27432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4FD1A1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9.4</a:t>
            </a:r>
            <a:endParaRPr lang="en-US" sz="7600" dirty="0"/>
          </a:p>
        </p:txBody>
      </p:sp>
      <p:sp>
        <p:nvSpPr>
          <p:cNvPr id="26" name="Text 24"/>
          <p:cNvSpPr/>
          <p:nvPr/>
        </p:nvSpPr>
        <p:spPr>
          <a:xfrm>
            <a:off x="749808" y="29718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FAF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tCO₂e / ไร่ / ปี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58368" y="3675888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3FAF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ป่าของเราจะทำได้จริงไหม?</a:t>
            </a:r>
            <a:endParaRPr lang="en-US" sz="3300" dirty="0"/>
          </a:p>
        </p:txBody>
      </p:sp>
      <p:sp>
        <p:nvSpPr>
          <p:cNvPr id="28" name="Text 26"/>
          <p:cNvSpPr/>
          <p:nvPr/>
        </p:nvSpPr>
        <p:spPr>
          <a:xfrm>
            <a:off x="658368" y="4443984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A9BBB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แยก “ค่าคาดการณ์จากแปลงปลูกโกงกาง” ออกจาก “การเพิ่มขึ้นจริงของคาร์บอนในป่าธรรมชาติของโครงการ”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658368" y="580644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837A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MOC2 baseline workbook + TGO / DMCR reference study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F837A"/>
                </a:solidFill>
                <a:latin typeface="Noto Sans Thai"/>
                <a:ea typeface="Noto Sans Thai"/>
                <a:cs typeface="Noto Sans Tha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7772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4FD1A1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EXECUTIVE ANSWER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3FAF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คำตอบสั้นที่สุด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184708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9BBB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9.4 เป็นไปได้ในบางแปลงหรือบางช่วงอายุ แต่ยังไม่มีหลักฐานว่าทั้งโครงการจะรักษาค่าเฉลี่ยนี้ได้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2615184"/>
            <a:ext cx="10881360" cy="1874520"/>
          </a:xfrm>
          <a:prstGeom prst="roundRect">
            <a:avLst/>
          </a:prstGeom>
          <a:solidFill>
            <a:srgbClr val="10201A"/>
          </a:solidFill>
          <a:ln w="12700">
            <a:solidFill>
              <a:srgbClr val="10201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944368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3FAF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ไม่ควรสัญญา 9.4 เป็นผลจริงของทั้งโครงการ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87552" y="358444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BB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จนกว่าจะมีการวัดซ้ำและคำนวณ ΔC/Δt ของแปลงถาวรจริง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705088" y="2926080"/>
            <a:ext cx="1508760" cy="1078992"/>
          </a:xfrm>
          <a:prstGeom prst="chevron">
            <a:avLst/>
          </a:prstGeom>
          <a:solidFill>
            <a:srgbClr val="F2C14E"/>
          </a:solidFill>
          <a:ln w="12700">
            <a:solidFill>
              <a:srgbClr val="F2C14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51392" y="3172968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10E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OPTIMISTIC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7110E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BENCHMARK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4672" y="4828032"/>
            <a:ext cx="310896" cy="310896"/>
          </a:xfrm>
          <a:prstGeom prst="ellipse">
            <a:avLst/>
          </a:prstGeom>
          <a:solidFill>
            <a:srgbClr val="4FD1A1"/>
          </a:solidFill>
          <a:ln w="12700">
            <a:solidFill>
              <a:srgbClr val="4FD1A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4828032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10E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43584" y="4800600"/>
            <a:ext cx="3035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F3FAF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9.4 ไม่ใช่ “โตปีต่อปี”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1243584" y="5111496"/>
            <a:ext cx="3035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A9BBB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ต้นทางคือ Mean Annual Increment: biomass สะสม ÷ อายุแปลงปลูก</a:t>
            </a:r>
            <a:endParaRPr lang="en-US" sz="1090" dirty="0"/>
          </a:p>
        </p:txBody>
      </p:sp>
      <p:sp>
        <p:nvSpPr>
          <p:cNvPr id="14" name="Shape 12"/>
          <p:cNvSpPr/>
          <p:nvPr/>
        </p:nvSpPr>
        <p:spPr>
          <a:xfrm>
            <a:off x="4261104" y="4828032"/>
            <a:ext cx="310896" cy="310896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61104" y="4828032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10E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0016" y="4800600"/>
            <a:ext cx="31729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F3FAF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ชุดอ้างอิงต่างจากเรา</a:t>
            </a:r>
            <a:endParaRPr lang="en-US" sz="1420" dirty="0"/>
          </a:p>
        </p:txBody>
      </p:sp>
      <p:sp>
        <p:nvSpPr>
          <p:cNvPr id="17" name="Text 15"/>
          <p:cNvSpPr/>
          <p:nvPr/>
        </p:nvSpPr>
        <p:spPr>
          <a:xfrm>
            <a:off x="4700016" y="5111496"/>
            <a:ext cx="3172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A9BBB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Rhizophora plantation อายุทราบ 7–30 ปี; ของเราเป็นป่าธรรมชาติผสม</a:t>
            </a:r>
            <a:endParaRPr lang="en-US" sz="1090" dirty="0"/>
          </a:p>
        </p:txBody>
      </p:sp>
      <p:sp>
        <p:nvSpPr>
          <p:cNvPr id="18" name="Shape 16"/>
          <p:cNvSpPr/>
          <p:nvPr/>
        </p:nvSpPr>
        <p:spPr>
          <a:xfrm>
            <a:off x="7973568" y="4828032"/>
            <a:ext cx="310896" cy="310896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73568" y="4828032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10E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0" y="4800600"/>
            <a:ext cx="2852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F3FAF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ต้องพิสูจน์ด้วย monitoring</a:t>
            </a:r>
            <a:endParaRPr lang="en-US" sz="1420" dirty="0"/>
          </a:p>
        </p:txBody>
      </p:sp>
      <p:sp>
        <p:nvSpPr>
          <p:cNvPr id="21" name="Text 19"/>
          <p:cNvSpPr/>
          <p:nvPr/>
        </p:nvSpPr>
        <p:spPr>
          <a:xfrm>
            <a:off x="8412480" y="5111496"/>
            <a:ext cx="2852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A9BBB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เครดิตจริงขึ้นกับ stock ที่เพิ่มสุทธิ รวม recruitment และหัก mortality</a:t>
            </a:r>
            <a:endParaRPr lang="en-US" sz="1090" dirty="0"/>
          </a:p>
        </p:txBody>
      </p:sp>
      <p:sp>
        <p:nvSpPr>
          <p:cNvPr id="22" name="Text 20"/>
          <p:cNvSpPr/>
          <p:nvPr/>
        </p:nvSpPr>
        <p:spPr>
          <a:xfrm>
            <a:off x="658368" y="633679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F837A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Verdict: possible at some plots / periods ≠ defensible whole-project average.</a:t>
            </a:r>
            <a:endParaRPr lang="en-US" sz="8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F837A"/>
                </a:solidFill>
                <a:latin typeface="Noto Sans Thai"/>
                <a:ea typeface="Noto Sans Thai"/>
                <a:cs typeface="Noto Sans Tha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7772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4FD1A1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WHERE 9.4 COMES FROM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3FAF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9.4 มาจาก “แปลงปลูกโกงกาง”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184708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9BBB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งานศึกษาของ ทช./อบก. ใช้ ๑๑๖ แปลง • ๙ จังหวัด • ๑๖ ชั้นอายุ • อายุ ๗–๓๐ ปี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2487168"/>
            <a:ext cx="2331720" cy="1234440"/>
          </a:xfrm>
          <a:prstGeom prst="roundRect">
            <a:avLst/>
          </a:prstGeom>
          <a:solidFill>
            <a:srgbClr val="10201A"/>
          </a:solidFill>
          <a:ln w="12700">
            <a:solidFill>
              <a:srgbClr val="10201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633472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A9BBB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แปลงที่ใช้วิเคราะห์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822960" y="2889504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4FD1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116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841248" y="338328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5E0D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แปลง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82112" y="2487168"/>
            <a:ext cx="2331720" cy="1234440"/>
          </a:xfrm>
          <a:prstGeom prst="roundRect">
            <a:avLst/>
          </a:prstGeom>
          <a:solidFill>
            <a:srgbClr val="10201A"/>
          </a:solidFill>
          <a:ln w="12700">
            <a:solidFill>
              <a:srgbClr val="10201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46704" y="2633472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A9BBB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พื้นที่ศึกษา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3346704" y="2889504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DD4B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364992" y="338328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5E0D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จังหวัด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05856" y="2487168"/>
            <a:ext cx="2331720" cy="1234440"/>
          </a:xfrm>
          <a:prstGeom prst="roundRect">
            <a:avLst/>
          </a:prstGeom>
          <a:solidFill>
            <a:srgbClr val="10201A"/>
          </a:solidFill>
          <a:ln w="12700">
            <a:solidFill>
              <a:srgbClr val="10201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70448" y="2633472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A9BBB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ช่วงอายุ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5870448" y="2889504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B7F34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7–30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5888736" y="338328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5E0D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ปี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0" y="2487168"/>
            <a:ext cx="2834640" cy="1234440"/>
          </a:xfrm>
          <a:prstGeom prst="roundRect">
            <a:avLst/>
          </a:prstGeom>
          <a:solidFill>
            <a:srgbClr val="10201A"/>
          </a:solidFill>
          <a:ln w="12700">
            <a:solidFill>
              <a:srgbClr val="10201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94192" y="2633472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A9BBB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ผลเฉลี่ย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8394192" y="2889504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2C14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9.4 ± 4.6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8412480" y="33832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5E0D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tCO₂e/ไร่/ปี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" y="4069080"/>
            <a:ext cx="10405872" cy="1371600"/>
          </a:xfrm>
          <a:prstGeom prst="roundRect">
            <a:avLst/>
          </a:prstGeom>
          <a:solidFill>
            <a:srgbClr val="132A22"/>
          </a:solidFill>
          <a:ln w="12700">
            <a:solidFill>
              <a:srgbClr val="132A22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343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D1A1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เกณฑ์คัดข้อมูลสำคัญ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46634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3FAF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ตัดออก ๘ แปลง — เพราะสัดส่วนโกงกางต่ำกว่าร้อยละ ๘๐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715000" y="444398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BB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reference population จึงเข้มข้นไปทาง Rhizophora plantation มากกว่าป่าธรรมชาติผสมของเรา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" y="633679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F837A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Source: TGO — การศึกษาการกักเก็บก๊าซคาร์บอนไดออกไซด์ของไม้สกุลโกงกาง (Rhizophora spp.)</a:t>
            </a:r>
            <a:endParaRPr lang="en-US" sz="8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F837A"/>
                </a:solidFill>
                <a:latin typeface="Noto Sans Thai"/>
                <a:ea typeface="Noto Sans Thai"/>
                <a:cs typeface="Noto Sans Tha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7772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4FD1A1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CONCEPT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3FAF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เลขเดียวกัน แต่ความหมายคนละแบบ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184708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9BBB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นี่คือเหตุผลหลักที่ 9.4 ไม่ควรถูกอ่านว่า “ป่าของเราต้องโตเพิ่ม 9.4 ทุกปี”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2487168"/>
            <a:ext cx="5074920" cy="3291840"/>
          </a:xfrm>
          <a:prstGeom prst="roundRect">
            <a:avLst/>
          </a:prstGeom>
          <a:solidFill>
            <a:srgbClr val="10201A"/>
          </a:solidFill>
          <a:ln w="12700">
            <a:solidFill>
              <a:srgbClr val="10201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89320" y="2487168"/>
            <a:ext cx="5074920" cy="3291840"/>
          </a:xfrm>
          <a:prstGeom prst="roundRect">
            <a:avLst/>
          </a:prstGeom>
          <a:solidFill>
            <a:srgbClr val="10201A"/>
          </a:solidFill>
          <a:ln w="12700">
            <a:solidFill>
              <a:srgbClr val="10201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2761488"/>
            <a:ext cx="1965960" cy="384048"/>
          </a:xfrm>
          <a:prstGeom prst="roundRect">
            <a:avLst/>
          </a:prstGeom>
          <a:solidFill>
            <a:srgbClr val="132A22"/>
          </a:solidFill>
          <a:ln w="12700">
            <a:solidFill>
              <a:srgbClr val="132A2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81635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D1A1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TGO REFERENCE • MAI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72784" y="2761488"/>
            <a:ext cx="2423160" cy="384048"/>
          </a:xfrm>
          <a:prstGeom prst="roundRect">
            <a:avLst/>
          </a:prstGeom>
          <a:solidFill>
            <a:srgbClr val="132A22"/>
          </a:solidFill>
          <a:ln w="12700">
            <a:solidFill>
              <a:srgbClr val="132A2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64224" y="281635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C14E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OUR CREDIT • PERIODIC CHANGE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32688" y="33832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3FAF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MAI = Biomass ที่อายุ a ÷ a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32688" y="4059936"/>
            <a:ext cx="4251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9BBB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ค่าเฉลี่ยตั้งแต่เริ่มปลูกจนถึงอายุปัจจุบัน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1051560" y="5074920"/>
            <a:ext cx="3794760" cy="0"/>
          </a:xfrm>
          <a:prstGeom prst="line">
            <a:avLst/>
          </a:prstGeom>
          <a:noFill/>
          <a:ln w="50800">
            <a:solidFill>
              <a:srgbClr val="29423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05840" y="4965192"/>
            <a:ext cx="210312" cy="210312"/>
          </a:xfrm>
          <a:prstGeom prst="ellipse">
            <a:avLst/>
          </a:prstGeom>
          <a:solidFill>
            <a:srgbClr val="4FD1A1"/>
          </a:solidFill>
          <a:ln w="12700">
            <a:solidFill>
              <a:srgbClr val="4FD1A1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53712" y="4965192"/>
            <a:ext cx="210312" cy="210312"/>
          </a:xfrm>
          <a:prstGeom prst="ellipse">
            <a:avLst/>
          </a:prstGeom>
          <a:solidFill>
            <a:srgbClr val="4FD1A1"/>
          </a:solidFill>
          <a:ln w="12700">
            <a:solidFill>
              <a:srgbClr val="4FD1A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3218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F837A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ปลูก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07408" y="532180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F837A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อายุ 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72784" y="338328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3FAF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Increment = (Cₜ − C₀) ÷ Δt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72784" y="4059936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9BBB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การเปลี่ยนแปลงจริงในช่วง monitoring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419088" y="5074920"/>
            <a:ext cx="3794760" cy="0"/>
          </a:xfrm>
          <a:prstGeom prst="line">
            <a:avLst/>
          </a:prstGeom>
          <a:noFill/>
          <a:ln w="50800">
            <a:solidFill>
              <a:srgbClr val="29423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00800" y="4965192"/>
            <a:ext cx="210312" cy="210312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39528" y="4965192"/>
            <a:ext cx="210312" cy="210312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99632" y="53218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F837A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Baseline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710928" y="532180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F837A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8368" y="633679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F837A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TGO formula: MAIWT = WTop+R / a; carbon = MAI × 0.47; CO₂ = carbon × 3.67</a:t>
            </a:r>
            <a:endParaRPr lang="en-US" sz="8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F837A"/>
                </a:solidFill>
                <a:latin typeface="Noto Sans Thai"/>
                <a:ea typeface="Noto Sans Thai"/>
                <a:cs typeface="Noto Sans Tha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7772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4FD1A1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REFERENCE VARIABILITY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3FAF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แม้ในแปลงปลูกอ้างอิง 9.4 ก็ไม่ใช่ค่าคงที่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184708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9BBB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ค่ารายชั้นอายุ/จังหวัดกระจายประมาณ 3.5–19.1 tCO₂e/ไร่/ปี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2487168"/>
            <a:ext cx="10405872" cy="3456432"/>
          </a:xfrm>
          <a:prstGeom prst="roundRect">
            <a:avLst/>
          </a:prstGeom>
          <a:solidFill>
            <a:srgbClr val="10201A"/>
          </a:solidFill>
          <a:ln w="12700">
            <a:solidFill>
              <a:srgbClr val="10201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5486400"/>
            <a:ext cx="9738360" cy="0"/>
          </a:xfrm>
          <a:prstGeom prst="line">
            <a:avLst/>
          </a:prstGeom>
          <a:noFill/>
          <a:ln w="12700">
            <a:solidFill>
              <a:srgbClr val="2942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53858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83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4743450"/>
            <a:ext cx="9738360" cy="0"/>
          </a:xfrm>
          <a:prstGeom prst="line">
            <a:avLst/>
          </a:prstGeom>
          <a:noFill/>
          <a:ln w="12700">
            <a:solidFill>
              <a:srgbClr val="29423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464286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83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14400" y="4000500"/>
            <a:ext cx="9738360" cy="0"/>
          </a:xfrm>
          <a:prstGeom prst="line">
            <a:avLst/>
          </a:prstGeom>
          <a:noFill/>
          <a:ln w="12700">
            <a:solidFill>
              <a:srgbClr val="2942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8999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83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14400" y="3257550"/>
            <a:ext cx="9738360" cy="0"/>
          </a:xfrm>
          <a:prstGeom prst="line">
            <a:avLst/>
          </a:prstGeom>
          <a:noFill/>
          <a:ln w="12700">
            <a:solidFill>
              <a:srgbClr val="2942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15696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83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14400" y="2514600"/>
            <a:ext cx="9738360" cy="0"/>
          </a:xfrm>
          <a:prstGeom prst="line">
            <a:avLst/>
          </a:prstGeom>
          <a:noFill/>
          <a:ln w="12700">
            <a:solidFill>
              <a:srgbClr val="2942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4140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83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14400" y="5486400"/>
            <a:ext cx="0" cy="-2971800"/>
          </a:xfrm>
          <a:prstGeom prst="line">
            <a:avLst/>
          </a:prstGeom>
          <a:noFill/>
          <a:ln w="7620">
            <a:solidFill>
              <a:srgbClr val="294239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555955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F83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184621" y="5486400"/>
            <a:ext cx="0" cy="-2971800"/>
          </a:xfrm>
          <a:prstGeom prst="line">
            <a:avLst/>
          </a:prstGeom>
          <a:noFill/>
          <a:ln w="7620">
            <a:solidFill>
              <a:srgbClr val="294239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83453" y="555955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F83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301656" y="5486400"/>
            <a:ext cx="0" cy="-2971800"/>
          </a:xfrm>
          <a:prstGeom prst="line">
            <a:avLst/>
          </a:prstGeom>
          <a:noFill/>
          <a:ln w="7620">
            <a:solidFill>
              <a:srgbClr val="294239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00488" y="555955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F83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418690" y="5486400"/>
            <a:ext cx="0" cy="-2971800"/>
          </a:xfrm>
          <a:prstGeom prst="line">
            <a:avLst/>
          </a:prstGeom>
          <a:noFill/>
          <a:ln w="7620">
            <a:solidFill>
              <a:srgbClr val="294239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522" y="555955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F83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535725" y="5486400"/>
            <a:ext cx="0" cy="-2971800"/>
          </a:xfrm>
          <a:prstGeom prst="line">
            <a:avLst/>
          </a:prstGeom>
          <a:noFill/>
          <a:ln w="7620">
            <a:solidFill>
              <a:srgbClr val="294239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34557" y="555955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F83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25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0652760" y="5486400"/>
            <a:ext cx="0" cy="-2971800"/>
          </a:xfrm>
          <a:prstGeom prst="line">
            <a:avLst/>
          </a:prstGeom>
          <a:noFill/>
          <a:ln w="7620">
            <a:solidFill>
              <a:srgbClr val="294239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51592" y="555955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F83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30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914400" y="4089654"/>
            <a:ext cx="9738360" cy="0"/>
          </a:xfrm>
          <a:prstGeom prst="line">
            <a:avLst/>
          </a:prstGeom>
          <a:noFill/>
          <a:ln w="29210">
            <a:solidFill>
              <a:srgbClr val="F2C14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32520" y="377875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2C14E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ค่าเฉลี่ย 9.4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12902" y="3875913"/>
            <a:ext cx="100584" cy="100584"/>
          </a:xfrm>
          <a:prstGeom prst="ellipse">
            <a:avLst/>
          </a:prstGeom>
          <a:solidFill>
            <a:srgbClr val="4FD1A1">
              <a:alpha val="92000"/>
            </a:srgbClr>
          </a:solidFill>
          <a:ln w="5080">
            <a:solidFill>
              <a:srgbClr val="F3FAF6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8505" y="4336542"/>
            <a:ext cx="100584" cy="100584"/>
          </a:xfrm>
          <a:prstGeom prst="ellipse">
            <a:avLst/>
          </a:prstGeom>
          <a:solidFill>
            <a:srgbClr val="4FD1A1">
              <a:alpha val="92000"/>
            </a:srgbClr>
          </a:solidFill>
          <a:ln w="5080">
            <a:solidFill>
              <a:srgbClr val="F3FAF6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4108" y="4202811"/>
            <a:ext cx="100584" cy="100584"/>
          </a:xfrm>
          <a:prstGeom prst="ellipse">
            <a:avLst/>
          </a:prstGeom>
          <a:solidFill>
            <a:srgbClr val="4FD1A1">
              <a:alpha val="92000"/>
            </a:srgbClr>
          </a:solidFill>
          <a:ln w="5080">
            <a:solidFill>
              <a:srgbClr val="F3FAF6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89711" y="3771900"/>
            <a:ext cx="100584" cy="100584"/>
          </a:xfrm>
          <a:prstGeom prst="ellipse">
            <a:avLst/>
          </a:prstGeom>
          <a:solidFill>
            <a:srgbClr val="4FD1A1">
              <a:alpha val="92000"/>
            </a:srgbClr>
          </a:solidFill>
          <a:ln w="5080">
            <a:solidFill>
              <a:srgbClr val="F3FAF6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5314" y="3177540"/>
            <a:ext cx="100584" cy="100584"/>
          </a:xfrm>
          <a:prstGeom prst="ellipse">
            <a:avLst/>
          </a:prstGeom>
          <a:solidFill>
            <a:srgbClr val="4FD1A1">
              <a:alpha val="92000"/>
            </a:srgbClr>
          </a:solidFill>
          <a:ln w="5080">
            <a:solidFill>
              <a:srgbClr val="F3FAF6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36309" y="4321683"/>
            <a:ext cx="100584" cy="100584"/>
          </a:xfrm>
          <a:prstGeom prst="ellipse">
            <a:avLst/>
          </a:prstGeom>
          <a:solidFill>
            <a:srgbClr val="4FD1A1">
              <a:alpha val="92000"/>
            </a:srgbClr>
          </a:solidFill>
          <a:ln w="5080">
            <a:solidFill>
              <a:srgbClr val="F3FAF6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61912" y="3326130"/>
            <a:ext cx="100584" cy="100584"/>
          </a:xfrm>
          <a:prstGeom prst="ellipse">
            <a:avLst/>
          </a:prstGeom>
          <a:solidFill>
            <a:srgbClr val="4FD1A1">
              <a:alpha val="92000"/>
            </a:srgbClr>
          </a:solidFill>
          <a:ln w="5080">
            <a:solidFill>
              <a:srgbClr val="F3FAF6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287515" y="4366260"/>
            <a:ext cx="100584" cy="100584"/>
          </a:xfrm>
          <a:prstGeom prst="ellipse">
            <a:avLst/>
          </a:prstGeom>
          <a:solidFill>
            <a:srgbClr val="4FD1A1">
              <a:alpha val="92000"/>
            </a:srgbClr>
          </a:solidFill>
          <a:ln w="5080">
            <a:solidFill>
              <a:srgbClr val="F3FAF6">
                <a:alpha val="3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13118" y="4395978"/>
            <a:ext cx="100584" cy="100584"/>
          </a:xfrm>
          <a:prstGeom prst="ellipse">
            <a:avLst/>
          </a:prstGeom>
          <a:solidFill>
            <a:srgbClr val="4FD1A1">
              <a:alpha val="92000"/>
            </a:srgbClr>
          </a:solidFill>
          <a:ln w="5080">
            <a:solidFill>
              <a:srgbClr val="F3FAF6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62128" y="4232529"/>
            <a:ext cx="100584" cy="100584"/>
          </a:xfrm>
          <a:prstGeom prst="ellipse">
            <a:avLst/>
          </a:prstGeom>
          <a:solidFill>
            <a:srgbClr val="4FD1A1">
              <a:alpha val="92000"/>
            </a:srgbClr>
          </a:solidFill>
          <a:ln w="5080">
            <a:solidFill>
              <a:srgbClr val="F3FAF6">
                <a:alpha val="3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083122" y="4143375"/>
            <a:ext cx="100584" cy="100584"/>
          </a:xfrm>
          <a:prstGeom prst="ellipse">
            <a:avLst/>
          </a:prstGeom>
          <a:solidFill>
            <a:srgbClr val="4FD1A1">
              <a:alpha val="92000"/>
            </a:srgbClr>
          </a:solidFill>
          <a:ln w="5080">
            <a:solidFill>
              <a:srgbClr val="F3FAF6">
                <a:alpha val="3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08726" y="3667887"/>
            <a:ext cx="100584" cy="100584"/>
          </a:xfrm>
          <a:prstGeom prst="ellipse">
            <a:avLst/>
          </a:prstGeom>
          <a:solidFill>
            <a:srgbClr val="4FD1A1">
              <a:alpha val="92000"/>
            </a:srgbClr>
          </a:solidFill>
          <a:ln w="5080">
            <a:solidFill>
              <a:srgbClr val="F3FAF6">
                <a:alpha val="3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134329" y="4232529"/>
            <a:ext cx="100584" cy="100584"/>
          </a:xfrm>
          <a:prstGeom prst="ellipse">
            <a:avLst/>
          </a:prstGeom>
          <a:solidFill>
            <a:srgbClr val="4FD1A1">
              <a:alpha val="92000"/>
            </a:srgbClr>
          </a:solidFill>
          <a:ln w="5080">
            <a:solidFill>
              <a:srgbClr val="F3FAF6">
                <a:alpha val="3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159932" y="4247388"/>
            <a:ext cx="100584" cy="100584"/>
          </a:xfrm>
          <a:prstGeom prst="ellipse">
            <a:avLst/>
          </a:prstGeom>
          <a:solidFill>
            <a:srgbClr val="4FD1A1">
              <a:alpha val="92000"/>
            </a:srgbClr>
          </a:solidFill>
          <a:ln w="5080">
            <a:solidFill>
              <a:srgbClr val="F3FAF6">
                <a:alpha val="3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185535" y="3816477"/>
            <a:ext cx="100584" cy="100584"/>
          </a:xfrm>
          <a:prstGeom prst="ellipse">
            <a:avLst/>
          </a:prstGeom>
          <a:solidFill>
            <a:srgbClr val="4FD1A1">
              <a:alpha val="92000"/>
            </a:srgbClr>
          </a:solidFill>
          <a:ln w="5080">
            <a:solidFill>
              <a:srgbClr val="F3FAF6">
                <a:alpha val="3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929936" y="2598039"/>
            <a:ext cx="100584" cy="100584"/>
          </a:xfrm>
          <a:prstGeom prst="ellipse">
            <a:avLst/>
          </a:prstGeom>
          <a:solidFill>
            <a:srgbClr val="2DD4BF">
              <a:alpha val="92000"/>
            </a:srgbClr>
          </a:solidFill>
          <a:ln w="5080">
            <a:solidFill>
              <a:srgbClr val="F3FAF6">
                <a:alpha val="3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78947" y="3608451"/>
            <a:ext cx="100584" cy="100584"/>
          </a:xfrm>
          <a:prstGeom prst="ellipse">
            <a:avLst/>
          </a:prstGeom>
          <a:solidFill>
            <a:srgbClr val="2DD4BF">
              <a:alpha val="92000"/>
            </a:srgbClr>
          </a:solidFill>
          <a:ln w="5080">
            <a:solidFill>
              <a:srgbClr val="F3FAF6">
                <a:alpha val="3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404550" y="2716911"/>
            <a:ext cx="100584" cy="100584"/>
          </a:xfrm>
          <a:prstGeom prst="ellipse">
            <a:avLst/>
          </a:prstGeom>
          <a:solidFill>
            <a:srgbClr val="2DD4BF">
              <a:alpha val="92000"/>
            </a:srgbClr>
          </a:solidFill>
          <a:ln w="5080">
            <a:solidFill>
              <a:srgbClr val="F3FAF6">
                <a:alpha val="3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853560" y="4247388"/>
            <a:ext cx="100584" cy="100584"/>
          </a:xfrm>
          <a:prstGeom prst="ellipse">
            <a:avLst/>
          </a:prstGeom>
          <a:solidFill>
            <a:srgbClr val="2DD4BF">
              <a:alpha val="92000"/>
            </a:srgbClr>
          </a:solidFill>
          <a:ln w="5080">
            <a:solidFill>
              <a:srgbClr val="F3FAF6">
                <a:alpha val="3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879163" y="4306824"/>
            <a:ext cx="100584" cy="100584"/>
          </a:xfrm>
          <a:prstGeom prst="ellipse">
            <a:avLst/>
          </a:prstGeom>
          <a:solidFill>
            <a:srgbClr val="2DD4BF">
              <a:alpha val="92000"/>
            </a:srgbClr>
          </a:solidFill>
          <a:ln w="5080">
            <a:solidFill>
              <a:srgbClr val="F3FAF6">
                <a:alpha val="3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76750" y="2850642"/>
            <a:ext cx="100584" cy="100584"/>
          </a:xfrm>
          <a:prstGeom prst="ellipse">
            <a:avLst/>
          </a:prstGeom>
          <a:solidFill>
            <a:srgbClr val="2DD4BF">
              <a:alpha val="92000"/>
            </a:srgbClr>
          </a:solidFill>
          <a:ln w="5080">
            <a:solidFill>
              <a:srgbClr val="F3FAF6">
                <a:alpha val="3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225760" y="3058668"/>
            <a:ext cx="100584" cy="100584"/>
          </a:xfrm>
          <a:prstGeom prst="ellipse">
            <a:avLst/>
          </a:prstGeom>
          <a:solidFill>
            <a:srgbClr val="2DD4BF">
              <a:alpha val="92000"/>
            </a:srgbClr>
          </a:solidFill>
          <a:ln w="5080">
            <a:solidFill>
              <a:srgbClr val="F3FAF6">
                <a:alpha val="3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74771" y="4499991"/>
            <a:ext cx="100584" cy="100584"/>
          </a:xfrm>
          <a:prstGeom prst="ellipse">
            <a:avLst/>
          </a:prstGeom>
          <a:solidFill>
            <a:srgbClr val="2DD4BF">
              <a:alpha val="92000"/>
            </a:srgbClr>
          </a:solidFill>
          <a:ln w="5080">
            <a:solidFill>
              <a:srgbClr val="F3FAF6">
                <a:alpha val="3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547188" y="4529709"/>
            <a:ext cx="100584" cy="100584"/>
          </a:xfrm>
          <a:prstGeom prst="ellipse">
            <a:avLst/>
          </a:prstGeom>
          <a:solidFill>
            <a:srgbClr val="2DD4BF">
              <a:alpha val="92000"/>
            </a:srgbClr>
          </a:solidFill>
          <a:ln w="5080">
            <a:solidFill>
              <a:srgbClr val="F3FAF6">
                <a:alpha val="3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996198" y="4826889"/>
            <a:ext cx="100584" cy="100584"/>
          </a:xfrm>
          <a:prstGeom prst="ellipse">
            <a:avLst/>
          </a:prstGeom>
          <a:solidFill>
            <a:srgbClr val="2DD4BF">
              <a:alpha val="92000"/>
            </a:srgbClr>
          </a:solidFill>
          <a:ln w="5080">
            <a:solidFill>
              <a:srgbClr val="F3FAF6">
                <a:alpha val="3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740599" y="4916043"/>
            <a:ext cx="100584" cy="100584"/>
          </a:xfrm>
          <a:prstGeom prst="ellipse">
            <a:avLst/>
          </a:prstGeom>
          <a:solidFill>
            <a:srgbClr val="2DD4BF">
              <a:alpha val="92000"/>
            </a:srgbClr>
          </a:solidFill>
          <a:ln w="5080">
            <a:solidFill>
              <a:srgbClr val="F3FAF6">
                <a:alpha val="3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306644" y="4604004"/>
            <a:ext cx="100584" cy="100584"/>
          </a:xfrm>
          <a:prstGeom prst="ellipse">
            <a:avLst/>
          </a:prstGeom>
          <a:solidFill>
            <a:srgbClr val="2DD4BF">
              <a:alpha val="92000"/>
            </a:srgbClr>
          </a:solidFill>
          <a:ln w="5080">
            <a:solidFill>
              <a:srgbClr val="F3FAF6">
                <a:alpha val="3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755654" y="4485132"/>
            <a:ext cx="100584" cy="100584"/>
          </a:xfrm>
          <a:prstGeom prst="ellipse">
            <a:avLst/>
          </a:prstGeom>
          <a:solidFill>
            <a:srgbClr val="2DD4BF">
              <a:alpha val="92000"/>
            </a:srgbClr>
          </a:solidFill>
          <a:ln w="5080">
            <a:solidFill>
              <a:srgbClr val="F3FAF6">
                <a:alpha val="3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204664" y="4663440"/>
            <a:ext cx="100584" cy="100584"/>
          </a:xfrm>
          <a:prstGeom prst="ellipse">
            <a:avLst/>
          </a:prstGeom>
          <a:solidFill>
            <a:srgbClr val="2DD4BF">
              <a:alpha val="92000"/>
            </a:srgbClr>
          </a:solidFill>
          <a:ln w="5080">
            <a:solidFill>
              <a:srgbClr val="F3FAF6">
                <a:alpha val="3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230267" y="4812030"/>
            <a:ext cx="100584" cy="100584"/>
          </a:xfrm>
          <a:prstGeom prst="ellipse">
            <a:avLst/>
          </a:prstGeom>
          <a:solidFill>
            <a:srgbClr val="2DD4BF">
              <a:alpha val="92000"/>
            </a:srgbClr>
          </a:solidFill>
          <a:ln w="5080">
            <a:solidFill>
              <a:srgbClr val="F3FAF6">
                <a:alpha val="3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551262" y="4098798"/>
            <a:ext cx="100584" cy="100584"/>
          </a:xfrm>
          <a:prstGeom prst="ellipse">
            <a:avLst/>
          </a:prstGeom>
          <a:solidFill>
            <a:srgbClr val="2DD4BF">
              <a:alpha val="92000"/>
            </a:srgbClr>
          </a:solidFill>
          <a:ln w="5080">
            <a:solidFill>
              <a:srgbClr val="F3FAF6">
                <a:alpha val="3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0" y="57424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9BBB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อายุแปลงปลูก (ปี)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9464040" y="2697480"/>
            <a:ext cx="658368" cy="384048"/>
          </a:xfrm>
          <a:prstGeom prst="roundRect">
            <a:avLst/>
          </a:prstGeom>
          <a:solidFill>
            <a:srgbClr val="132A22"/>
          </a:solidFill>
          <a:ln w="12700">
            <a:solidFill>
              <a:srgbClr val="132A22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555480" y="275234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6B6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3.5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10222992" y="2697480"/>
            <a:ext cx="713232" cy="384048"/>
          </a:xfrm>
          <a:prstGeom prst="roundRect">
            <a:avLst/>
          </a:prstGeom>
          <a:solidFill>
            <a:srgbClr val="132A22"/>
          </a:solidFill>
          <a:ln w="12700">
            <a:solidFill>
              <a:srgbClr val="132A22">
                <a:alpha val="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314432" y="275234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7F34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19.1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658368" y="633679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F837A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Source: TGO Rhizophora study, Table 3. Age and site quality produce a wide range around the mean.</a:t>
            </a:r>
            <a:endParaRPr lang="en-US" sz="8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F837A"/>
                </a:solidFill>
                <a:latin typeface="Noto Sans Thai"/>
                <a:ea typeface="Noto Sans Thai"/>
                <a:cs typeface="Noto Sans Tha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7772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4FD1A1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APPLES VS ORANGES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3FAF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โครงการเราไม่ใช่ประชากรเดียวกับชุด 9.4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184708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9BBB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ข้อมูลตั้งต้นของโครงการเป็นป่าธรรมชาติ/ป่าที่มีอยู่เดิม หลายชนิด และไม่ทราบอายุ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2487168"/>
            <a:ext cx="5047488" cy="2670048"/>
          </a:xfrm>
          <a:prstGeom prst="roundRect">
            <a:avLst/>
          </a:prstGeom>
          <a:solidFill>
            <a:srgbClr val="10201A"/>
          </a:solidFill>
          <a:ln w="12700">
            <a:solidFill>
              <a:srgbClr val="10201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16752" y="2487168"/>
            <a:ext cx="5047488" cy="2670048"/>
          </a:xfrm>
          <a:prstGeom prst="roundRect">
            <a:avLst/>
          </a:prstGeom>
          <a:solidFill>
            <a:srgbClr val="10201A"/>
          </a:solidFill>
          <a:ln w="12700">
            <a:solidFill>
              <a:srgbClr val="10201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724912"/>
            <a:ext cx="1600200" cy="384048"/>
          </a:xfrm>
          <a:prstGeom prst="roundRect">
            <a:avLst/>
          </a:prstGeom>
          <a:solidFill>
            <a:srgbClr val="132A22"/>
          </a:solidFill>
          <a:ln w="12700">
            <a:solidFill>
              <a:srgbClr val="132A2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77977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D1A1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REFERENCE 9.4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72784" y="2724912"/>
            <a:ext cx="1691640" cy="384048"/>
          </a:xfrm>
          <a:prstGeom prst="roundRect">
            <a:avLst/>
          </a:prstGeom>
          <a:solidFill>
            <a:srgbClr val="132A22"/>
          </a:solidFill>
          <a:ln w="12700">
            <a:solidFill>
              <a:srgbClr val="132A2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64224" y="277977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C14E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MOC2 BASELINE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14400" y="3273552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D1A1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โครงสร้าง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29968" y="327355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3FAF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แปลงปลูก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639312"/>
            <a:ext cx="4462272" cy="0"/>
          </a:xfrm>
          <a:prstGeom prst="line">
            <a:avLst/>
          </a:prstGeom>
          <a:noFill/>
          <a:ln w="7620">
            <a:solidFill>
              <a:srgbClr val="29423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758184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D1A1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ชนิดเด่น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29968" y="375818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3FAF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Rhizophora spp. ≥80%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4123944"/>
            <a:ext cx="4462272" cy="0"/>
          </a:xfrm>
          <a:prstGeom prst="line">
            <a:avLst/>
          </a:prstGeom>
          <a:noFill/>
          <a:ln w="7620">
            <a:solidFill>
              <a:srgbClr val="2942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242816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D1A1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อายุ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29968" y="424281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3FAF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ทราบ 7–30 ปี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4608576"/>
            <a:ext cx="4462272" cy="0"/>
          </a:xfrm>
          <a:prstGeom prst="line">
            <a:avLst/>
          </a:prstGeom>
          <a:noFill/>
          <a:ln w="7620">
            <a:solidFill>
              <a:srgbClr val="2942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727448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D1A1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ตัวชี้วัด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029968" y="472744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3FAF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MAI = stock ÷ age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72784" y="3273552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C14E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โครงสร้าง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388352" y="327355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3FAF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ป่าธรรมชาติ/ป่าที่มีอยู่เดิม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72784" y="3639312"/>
            <a:ext cx="4462272" cy="0"/>
          </a:xfrm>
          <a:prstGeom prst="line">
            <a:avLst/>
          </a:prstGeom>
          <a:noFill/>
          <a:ln w="7620">
            <a:solidFill>
              <a:srgbClr val="29423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72784" y="3758184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C14E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ชนิดเด่น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88352" y="375818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3FAF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หลายชนิดผสม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72784" y="4123944"/>
            <a:ext cx="4462272" cy="0"/>
          </a:xfrm>
          <a:prstGeom prst="line">
            <a:avLst/>
          </a:prstGeom>
          <a:noFill/>
          <a:ln w="7620">
            <a:solidFill>
              <a:srgbClr val="29423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72784" y="4242816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C14E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อายุ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388352" y="424281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3FAF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ไม่ทราบ / ไม่ใช่อายุเดียวทั้ง stand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72784" y="4608576"/>
            <a:ext cx="4462272" cy="0"/>
          </a:xfrm>
          <a:prstGeom prst="line">
            <a:avLst/>
          </a:prstGeom>
          <a:noFill/>
          <a:ln w="7620">
            <a:solidFill>
              <a:srgbClr val="29423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72784" y="4727448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C14E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ตัวชี้วัด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388352" y="472744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3FAF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ต้องใช้ ΔC จาก monitoring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14400" y="5440680"/>
            <a:ext cx="9857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3FAF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ดังนั้น 9.4 ใช้เป็น “ค่าคาดการณ์อ้างอิง” ได้ แต่ไม่ใช่หลักฐานว่าป่าของเราจะเพิ่มคาร์บอนเท่ากัน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658368" y="633679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F837A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PDD describes the 6,775.53 rai project area as heterogeneous and uses stratified sampling.</a:t>
            </a:r>
            <a:endParaRPr lang="en-US" sz="8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F837A"/>
                </a:solidFill>
                <a:latin typeface="Noto Sans Thai"/>
                <a:ea typeface="Noto Sans Thai"/>
                <a:cs typeface="Noto Sans Tha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7772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4FD1A1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OUR BASELINE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3FAF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Baseline ของเราบอกว่า “ป่าไม่เหมือนกันหมด”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184708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9BBB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32 แปลงตัวอย่าง • 6 ชั้นภูมิ • คาร์บอนสะสมต่างกันมากระหว่างกลุ่มและภายในกลุ่ม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2487168"/>
            <a:ext cx="7315200" cy="3520440"/>
          </a:xfrm>
          <a:prstGeom prst="roundRect">
            <a:avLst/>
          </a:prstGeom>
          <a:solidFill>
            <a:srgbClr val="10201A"/>
          </a:solidFill>
          <a:ln w="12700">
            <a:solidFill>
              <a:srgbClr val="10201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7523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F3FAF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อ่าวไทย / มาก</a:t>
            </a:r>
            <a:endParaRPr lang="en-US" sz="1030" dirty="0"/>
          </a:p>
        </p:txBody>
      </p:sp>
      <p:sp>
        <p:nvSpPr>
          <p:cNvPr id="7" name="Shape 5"/>
          <p:cNvSpPr/>
          <p:nvPr/>
        </p:nvSpPr>
        <p:spPr>
          <a:xfrm>
            <a:off x="2971800" y="2880360"/>
            <a:ext cx="4526280" cy="0"/>
          </a:xfrm>
          <a:prstGeom prst="line">
            <a:avLst/>
          </a:prstGeom>
          <a:noFill/>
          <a:ln w="13970">
            <a:solidFill>
              <a:srgbClr val="29423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57685" y="2880360"/>
            <a:ext cx="2557851" cy="0"/>
          </a:xfrm>
          <a:prstGeom prst="line">
            <a:avLst/>
          </a:prstGeom>
          <a:noFill/>
          <a:ln w="68580">
            <a:solidFill>
              <a:srgbClr val="4FD1A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52226" y="2816352"/>
            <a:ext cx="128016" cy="128016"/>
          </a:xfrm>
          <a:prstGeom prst="ellipse">
            <a:avLst/>
          </a:prstGeom>
          <a:solidFill>
            <a:srgbClr val="F3FAF6"/>
          </a:solidFill>
          <a:ln w="12700">
            <a:solidFill>
              <a:srgbClr val="F3FAF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88688" y="2752344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4FD1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54.6</a:t>
            </a:r>
            <a:endParaRPr lang="en-US" sz="940" dirty="0"/>
          </a:p>
        </p:txBody>
      </p:sp>
      <p:sp>
        <p:nvSpPr>
          <p:cNvPr id="11" name="Text 9"/>
          <p:cNvSpPr/>
          <p:nvPr/>
        </p:nvSpPr>
        <p:spPr>
          <a:xfrm>
            <a:off x="932688" y="32278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F3FAF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อ่าวไทย / กลาง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2971800" y="3355848"/>
            <a:ext cx="4526280" cy="0"/>
          </a:xfrm>
          <a:prstGeom prst="line">
            <a:avLst/>
          </a:prstGeom>
          <a:noFill/>
          <a:ln w="13970">
            <a:solidFill>
              <a:srgbClr val="29423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41673" y="3355848"/>
            <a:ext cx="423459" cy="0"/>
          </a:xfrm>
          <a:prstGeom prst="line">
            <a:avLst/>
          </a:prstGeom>
          <a:noFill/>
          <a:ln w="68580">
            <a:solidFill>
              <a:srgbClr val="2DD4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5874" y="3291840"/>
            <a:ext cx="128016" cy="128016"/>
          </a:xfrm>
          <a:prstGeom prst="ellipse">
            <a:avLst/>
          </a:prstGeom>
          <a:solidFill>
            <a:srgbClr val="F3FAF6"/>
          </a:solidFill>
          <a:ln w="12700">
            <a:solidFill>
              <a:srgbClr val="F3FAF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8284" y="3227832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2DD4B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29.4</a:t>
            </a:r>
            <a:endParaRPr lang="en-US" sz="940" dirty="0"/>
          </a:p>
        </p:txBody>
      </p:sp>
      <p:sp>
        <p:nvSpPr>
          <p:cNvPr id="16" name="Text 14"/>
          <p:cNvSpPr/>
          <p:nvPr/>
        </p:nvSpPr>
        <p:spPr>
          <a:xfrm>
            <a:off x="932688" y="3703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F3FAF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อ่าวไทย / น้อย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2971800" y="3831336"/>
            <a:ext cx="4526280" cy="0"/>
          </a:xfrm>
          <a:prstGeom prst="line">
            <a:avLst/>
          </a:prstGeom>
          <a:noFill/>
          <a:ln w="13970">
            <a:solidFill>
              <a:srgbClr val="29423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75904" y="3831336"/>
            <a:ext cx="274091" cy="0"/>
          </a:xfrm>
          <a:prstGeom prst="line">
            <a:avLst/>
          </a:prstGeom>
          <a:noFill/>
          <a:ln w="68580">
            <a:solidFill>
              <a:srgbClr val="B7F3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61767" y="3767328"/>
            <a:ext cx="128016" cy="128016"/>
          </a:xfrm>
          <a:prstGeom prst="ellipse">
            <a:avLst/>
          </a:prstGeom>
          <a:solidFill>
            <a:srgbClr val="F3FAF6"/>
          </a:solidFill>
          <a:ln w="12700">
            <a:solidFill>
              <a:srgbClr val="F3FAF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3148" y="3703320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B7F34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5.0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932688" y="41788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F3FAF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อันดามัน / มาก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2971800" y="4306824"/>
            <a:ext cx="4526280" cy="0"/>
          </a:xfrm>
          <a:prstGeom prst="line">
            <a:avLst/>
          </a:prstGeom>
          <a:noFill/>
          <a:ln w="13970">
            <a:solidFill>
              <a:srgbClr val="29423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19674" y="4306824"/>
            <a:ext cx="1742618" cy="0"/>
          </a:xfrm>
          <a:prstGeom prst="line">
            <a:avLst/>
          </a:prstGeom>
          <a:noFill/>
          <a:ln w="68580">
            <a:solidFill>
              <a:srgbClr val="4FD1A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11717" y="4242816"/>
            <a:ext cx="128016" cy="128016"/>
          </a:xfrm>
          <a:prstGeom prst="ellipse">
            <a:avLst/>
          </a:prstGeom>
          <a:solidFill>
            <a:srgbClr val="F3FAF6"/>
          </a:solidFill>
          <a:ln w="12700">
            <a:solidFill>
              <a:srgbClr val="F3FAF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35444" y="417880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4FD1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71.7</a:t>
            </a:r>
            <a:endParaRPr lang="en-US" sz="940" dirty="0"/>
          </a:p>
        </p:txBody>
      </p:sp>
      <p:sp>
        <p:nvSpPr>
          <p:cNvPr id="26" name="Text 24"/>
          <p:cNvSpPr/>
          <p:nvPr/>
        </p:nvSpPr>
        <p:spPr>
          <a:xfrm>
            <a:off x="932688" y="46542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F3FAF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อันดามัน / กลาง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2971800" y="4782312"/>
            <a:ext cx="4526280" cy="0"/>
          </a:xfrm>
          <a:prstGeom prst="line">
            <a:avLst/>
          </a:prstGeom>
          <a:noFill/>
          <a:ln w="13970">
            <a:solidFill>
              <a:srgbClr val="29423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93798" y="4782312"/>
            <a:ext cx="808192" cy="0"/>
          </a:xfrm>
          <a:prstGeom prst="line">
            <a:avLst/>
          </a:prstGeom>
          <a:noFill/>
          <a:ln w="68580">
            <a:solidFill>
              <a:srgbClr val="2DD4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81834" y="4718304"/>
            <a:ext cx="128016" cy="128016"/>
          </a:xfrm>
          <a:prstGeom prst="ellipse">
            <a:avLst/>
          </a:prstGeom>
          <a:solidFill>
            <a:srgbClr val="F3FAF6"/>
          </a:solidFill>
          <a:ln w="12700">
            <a:solidFill>
              <a:srgbClr val="F3FAF6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5143" y="4654296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2DD4B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41.2</a:t>
            </a:r>
            <a:endParaRPr lang="en-US" sz="940" dirty="0"/>
          </a:p>
        </p:txBody>
      </p:sp>
      <p:sp>
        <p:nvSpPr>
          <p:cNvPr id="31" name="Text 29"/>
          <p:cNvSpPr/>
          <p:nvPr/>
        </p:nvSpPr>
        <p:spPr>
          <a:xfrm>
            <a:off x="932688" y="51297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F3FAF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อันดามัน / น้อย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2971800" y="5257800"/>
            <a:ext cx="4526280" cy="0"/>
          </a:xfrm>
          <a:prstGeom prst="line">
            <a:avLst/>
          </a:prstGeom>
          <a:noFill/>
          <a:ln w="13970">
            <a:solidFill>
              <a:srgbClr val="29423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97449" y="5257800"/>
            <a:ext cx="2097679" cy="0"/>
          </a:xfrm>
          <a:prstGeom prst="line">
            <a:avLst/>
          </a:prstGeom>
          <a:noFill/>
          <a:ln w="68580">
            <a:solidFill>
              <a:srgbClr val="FF6B6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58814" y="5193792"/>
            <a:ext cx="128016" cy="128016"/>
          </a:xfrm>
          <a:prstGeom prst="ellipse">
            <a:avLst/>
          </a:prstGeom>
          <a:solidFill>
            <a:srgbClr val="F3FAF6"/>
          </a:solidFill>
          <a:ln w="12700">
            <a:solidFill>
              <a:srgbClr val="F3FAF6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68280" y="5129784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FF6B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18.9</a:t>
            </a:r>
            <a:endParaRPr lang="en-US" sz="940" dirty="0"/>
          </a:p>
        </p:txBody>
      </p:sp>
      <p:sp>
        <p:nvSpPr>
          <p:cNvPr id="36" name="Text 34"/>
          <p:cNvSpPr/>
          <p:nvPr/>
        </p:nvSpPr>
        <p:spPr>
          <a:xfrm>
            <a:off x="2880360" y="56235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F83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333488" y="56235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83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90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247888" y="2487168"/>
            <a:ext cx="2834640" cy="1234440"/>
          </a:xfrm>
          <a:prstGeom prst="roundRect">
            <a:avLst/>
          </a:prstGeom>
          <a:solidFill>
            <a:srgbClr val="10201A"/>
          </a:solidFill>
          <a:ln w="12700">
            <a:solidFill>
              <a:srgbClr val="10201A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12480" y="2633472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A9BBB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พื้นที่โครงการ</a:t>
            </a:r>
            <a:endParaRPr lang="en-US" sz="1030" dirty="0"/>
          </a:p>
        </p:txBody>
      </p:sp>
      <p:sp>
        <p:nvSpPr>
          <p:cNvPr id="40" name="Text 38"/>
          <p:cNvSpPr/>
          <p:nvPr/>
        </p:nvSpPr>
        <p:spPr>
          <a:xfrm>
            <a:off x="8412480" y="2889504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4FD1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6,775.53</a:t>
            </a:r>
            <a:endParaRPr lang="en-US" sz="2700" dirty="0"/>
          </a:p>
        </p:txBody>
      </p:sp>
      <p:sp>
        <p:nvSpPr>
          <p:cNvPr id="41" name="Text 39"/>
          <p:cNvSpPr/>
          <p:nvPr/>
        </p:nvSpPr>
        <p:spPr>
          <a:xfrm>
            <a:off x="8430768" y="33832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5E0D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ไร่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247888" y="3730752"/>
            <a:ext cx="2834640" cy="1234440"/>
          </a:xfrm>
          <a:prstGeom prst="roundRect">
            <a:avLst/>
          </a:prstGeom>
          <a:solidFill>
            <a:srgbClr val="10201A"/>
          </a:solidFill>
          <a:ln w="12700">
            <a:solidFill>
              <a:srgbClr val="10201A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12480" y="387705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A9BBB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Baseline tree carbon</a:t>
            </a:r>
            <a:endParaRPr lang="en-US" sz="1030" dirty="0"/>
          </a:p>
        </p:txBody>
      </p:sp>
      <p:sp>
        <p:nvSpPr>
          <p:cNvPr id="44" name="Text 42"/>
          <p:cNvSpPr/>
          <p:nvPr/>
        </p:nvSpPr>
        <p:spPr>
          <a:xfrm>
            <a:off x="8412480" y="4133088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DD4B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362,962.81</a:t>
            </a:r>
            <a:endParaRPr lang="en-US" sz="2700" dirty="0"/>
          </a:p>
        </p:txBody>
      </p:sp>
      <p:sp>
        <p:nvSpPr>
          <p:cNvPr id="45" name="Text 43"/>
          <p:cNvSpPr/>
          <p:nvPr/>
        </p:nvSpPr>
        <p:spPr>
          <a:xfrm>
            <a:off x="8430768" y="462686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5E0D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tCO₂e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247888" y="4974336"/>
            <a:ext cx="2834640" cy="1234440"/>
          </a:xfrm>
          <a:prstGeom prst="roundRect">
            <a:avLst/>
          </a:prstGeom>
          <a:solidFill>
            <a:srgbClr val="10201A"/>
          </a:solidFill>
          <a:ln w="12700">
            <a:solidFill>
              <a:srgbClr val="10201A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12480" y="5120640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A9BBB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เฉลี่ยถ่วงพื้นที่</a:t>
            </a:r>
            <a:endParaRPr lang="en-US" sz="1030" dirty="0"/>
          </a:p>
        </p:txBody>
      </p:sp>
      <p:sp>
        <p:nvSpPr>
          <p:cNvPr id="48" name="Text 46"/>
          <p:cNvSpPr/>
          <p:nvPr/>
        </p:nvSpPr>
        <p:spPr>
          <a:xfrm>
            <a:off x="8412480" y="5376672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2C14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53.57</a:t>
            </a:r>
            <a:endParaRPr lang="en-US" sz="2700" dirty="0"/>
          </a:p>
        </p:txBody>
      </p:sp>
      <p:sp>
        <p:nvSpPr>
          <p:cNvPr id="49" name="Text 47"/>
          <p:cNvSpPr/>
          <p:nvPr/>
        </p:nvSpPr>
        <p:spPr>
          <a:xfrm>
            <a:off x="8430768" y="58704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5E0D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tCO₂e/ไร่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58368" y="633679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F837A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Range = min–max across baseline plots; dot = mean. This is stock variability, not future growth variability.</a:t>
            </a:r>
            <a:endParaRPr lang="en-US" sz="8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F837A"/>
                </a:solidFill>
                <a:latin typeface="Noto Sans Thai"/>
                <a:ea typeface="Noto Sans Thai"/>
                <a:cs typeface="Noto Sans Tha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7772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4FD1A1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SCALE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3FAF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ถ้าตีความ 9.4 เป็น “เพิ่มจริงใน 1 ปี” มันใหญ่แค่ไหน?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184708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9BBB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เทียบกับคาร์บอนสะสมของต้นไม้ในปีฐาน เฉลี่ย 53.57 tCO₂e/ไร่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2487168"/>
            <a:ext cx="10405872" cy="3529584"/>
          </a:xfrm>
          <a:prstGeom prst="roundRect">
            <a:avLst/>
          </a:prstGeom>
          <a:solidFill>
            <a:srgbClr val="10201A"/>
          </a:solidFill>
          <a:ln w="12700">
            <a:solidFill>
              <a:srgbClr val="10201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8163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BBB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Baseline stock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" y="318211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3FA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53.57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87552" y="37947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837A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tCO₂e/ไร่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89504" y="3218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F83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429000" y="318211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C14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9.4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493008" y="37947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837A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เพิ่มต่อปี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3218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F83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=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440680" y="312724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6B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+17.5%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5504688" y="37947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BB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ของ stock ปัจจุบันในหนึ่งปี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2688" y="46360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FAF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นี่ไม่ใช่การบอกว่า DBH ต้องเพิ่ม 17.5%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32688" y="501091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A9BBB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biomass–DBH ไม่เชิงเส้น และ stock ยังเปลี่ยนจาก recruitment / mortality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7882128" y="2770632"/>
            <a:ext cx="2697480" cy="2377440"/>
          </a:xfrm>
          <a:prstGeom prst="roundRect">
            <a:avLst/>
          </a:prstGeom>
          <a:solidFill>
            <a:srgbClr val="132A22"/>
          </a:solidFill>
          <a:ln w="12700">
            <a:solidFill>
              <a:srgbClr val="132A2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56448" y="301752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4FD1A1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INTERPRETATION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165592" y="3438144"/>
            <a:ext cx="20848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FAF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9.4 เป็น “hurdle ที่สูง”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3FAF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สำหรับป่าที่มี stock อยู่แล้ว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183880" y="461772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9BBB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โดยเฉพาะเมื่อมีต้นแก่และ mortality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8368" y="633679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F837A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53.57 = weighted baseline tree-carbon stock from the 32-plot MOC2 workbook.</a:t>
            </a:r>
            <a:endParaRPr lang="en-US" sz="8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F837A"/>
                </a:solidFill>
                <a:latin typeface="Noto Sans Thai"/>
                <a:ea typeface="Noto Sans Thai"/>
                <a:cs typeface="Noto Sans Tha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7772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4FD1A1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PROOF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3FAF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วิธีพิสูจน์ว่าเราได้ 9.4 หรือไม่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184708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9BBB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ใช้แปลงถาวรเดิมและวัดซ้ำ—not เดาจากอายุป่า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49808" y="2514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D1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170432" y="2642616"/>
            <a:ext cx="384048" cy="0"/>
          </a:xfrm>
          <a:prstGeom prst="line">
            <a:avLst/>
          </a:prstGeom>
          <a:noFill/>
          <a:ln w="22860">
            <a:solidFill>
              <a:srgbClr val="4FD1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82496" y="24871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AF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กลับไปแปลงเดิม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24528" y="2487168"/>
            <a:ext cx="6144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A9BBB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ใช้ permanent plots / tags เดิม</a:t>
            </a:r>
            <a:endParaRPr lang="en-US" sz="1110" dirty="0"/>
          </a:p>
        </p:txBody>
      </p:sp>
      <p:sp>
        <p:nvSpPr>
          <p:cNvPr id="9" name="Text 7"/>
          <p:cNvSpPr/>
          <p:nvPr/>
        </p:nvSpPr>
        <p:spPr>
          <a:xfrm>
            <a:off x="749808" y="30632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D1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170432" y="3191256"/>
            <a:ext cx="384048" cy="0"/>
          </a:xfrm>
          <a:prstGeom prst="line">
            <a:avLst/>
          </a:prstGeom>
          <a:noFill/>
          <a:ln w="22860">
            <a:solidFill>
              <a:srgbClr val="4FD1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82496" y="30358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AF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วัด DBH ซ้ำ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24528" y="3035808"/>
            <a:ext cx="6144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A9BBB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protocol และเกณฑ์เดียวกับ baseline</a:t>
            </a:r>
            <a:endParaRPr lang="en-US" sz="1110" dirty="0"/>
          </a:p>
        </p:txBody>
      </p:sp>
      <p:sp>
        <p:nvSpPr>
          <p:cNvPr id="13" name="Text 11"/>
          <p:cNvSpPr/>
          <p:nvPr/>
        </p:nvSpPr>
        <p:spPr>
          <a:xfrm>
            <a:off x="749808" y="3611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D1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170432" y="3739896"/>
            <a:ext cx="384048" cy="0"/>
          </a:xfrm>
          <a:prstGeom prst="line">
            <a:avLst/>
          </a:prstGeom>
          <a:noFill/>
          <a:ln w="22860">
            <a:solidFill>
              <a:srgbClr val="4FD1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82496" y="35844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AF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เก็บ recruitment + mortality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24528" y="3584448"/>
            <a:ext cx="6144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A9BBB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ต้นเข้าใหม่และต้นตายต้องอยู่ใน net change</a:t>
            </a:r>
            <a:endParaRPr lang="en-US" sz="1110" dirty="0"/>
          </a:p>
        </p:txBody>
      </p:sp>
      <p:sp>
        <p:nvSpPr>
          <p:cNvPr id="17" name="Text 15"/>
          <p:cNvSpPr/>
          <p:nvPr/>
        </p:nvSpPr>
        <p:spPr>
          <a:xfrm>
            <a:off x="749808" y="4160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D1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170432" y="4288536"/>
            <a:ext cx="384048" cy="0"/>
          </a:xfrm>
          <a:prstGeom prst="line">
            <a:avLst/>
          </a:prstGeom>
          <a:noFill/>
          <a:ln w="22860">
            <a:solidFill>
              <a:srgbClr val="4FD1A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82496" y="413308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AF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คำนวณ Cₜ และ ΔC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24528" y="4133088"/>
            <a:ext cx="6144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A9BBB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allometry เดิม → stock รอบใหม่ → ลบ baseline</a:t>
            </a:r>
            <a:endParaRPr lang="en-US" sz="1110" dirty="0"/>
          </a:p>
        </p:txBody>
      </p:sp>
      <p:sp>
        <p:nvSpPr>
          <p:cNvPr id="21" name="Text 19"/>
          <p:cNvSpPr/>
          <p:nvPr/>
        </p:nvSpPr>
        <p:spPr>
          <a:xfrm>
            <a:off x="749808" y="470916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D1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05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170432" y="4837176"/>
            <a:ext cx="384048" cy="0"/>
          </a:xfrm>
          <a:prstGeom prst="line">
            <a:avLst/>
          </a:prstGeom>
          <a:noFill/>
          <a:ln w="22860">
            <a:solidFill>
              <a:srgbClr val="4FD1A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82496" y="46817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AF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ถ่วงตาม strata + uncertainty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24528" y="4681728"/>
            <a:ext cx="6144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A9BBB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รวม 6 ชั้นภูมิและรายงาน precision</a:t>
            </a:r>
            <a:endParaRPr lang="en-US" sz="1110" dirty="0"/>
          </a:p>
        </p:txBody>
      </p:sp>
      <p:sp>
        <p:nvSpPr>
          <p:cNvPr id="25" name="Text 23"/>
          <p:cNvSpPr/>
          <p:nvPr/>
        </p:nvSpPr>
        <p:spPr>
          <a:xfrm>
            <a:off x="749808" y="5257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D1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06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170432" y="5385816"/>
            <a:ext cx="384048" cy="0"/>
          </a:xfrm>
          <a:prstGeom prst="line">
            <a:avLst/>
          </a:prstGeom>
          <a:noFill/>
          <a:ln w="22860">
            <a:solidFill>
              <a:srgbClr val="4FD1A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82496" y="52303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AF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เทียบกับ 9.4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24528" y="5230368"/>
            <a:ext cx="6144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A9BBB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weighted ΔC/Δt ≥ 9.4 จึงถือว่าพิสูจน์ได้</a:t>
            </a:r>
            <a:endParaRPr lang="en-US" sz="1110" dirty="0"/>
          </a:p>
        </p:txBody>
      </p:sp>
      <p:sp>
        <p:nvSpPr>
          <p:cNvPr id="29" name="Shape 27"/>
          <p:cNvSpPr/>
          <p:nvPr/>
        </p:nvSpPr>
        <p:spPr>
          <a:xfrm>
            <a:off x="7973568" y="5632704"/>
            <a:ext cx="3090672" cy="566928"/>
          </a:xfrm>
          <a:prstGeom prst="roundRect">
            <a:avLst/>
          </a:prstGeom>
          <a:solidFill>
            <a:srgbClr val="132A22"/>
          </a:solidFill>
          <a:ln w="12700">
            <a:solidFill>
              <a:srgbClr val="132A22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83880" y="57515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D1A1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PASS CONDITION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180576" y="570585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30" b="1" dirty="0">
                <a:solidFill>
                  <a:srgbClr val="F3FA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Weighted ΔC/Δt ≥ 9.4</a:t>
            </a:r>
            <a:endParaRPr lang="en-US" sz="1230" dirty="0"/>
          </a:p>
        </p:txBody>
      </p:sp>
      <p:sp>
        <p:nvSpPr>
          <p:cNvPr id="32" name="Text 30"/>
          <p:cNvSpPr/>
          <p:nvPr/>
        </p:nvSpPr>
        <p:spPr>
          <a:xfrm>
            <a:off x="658368" y="633679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F837A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Use the monitoring protocol and methodology version approved for the registered project.</a:t>
            </a:r>
            <a:endParaRPr lang="en-US" sz="8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F837A"/>
                </a:solidFill>
                <a:latin typeface="Noto Sans Thai"/>
                <a:ea typeface="Noto Sans Thai"/>
                <a:cs typeface="Noto Sans Tha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7772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4FD1A1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DECISION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3FAF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ดังนั้น “จะได้ 9.4 ไหม?”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184708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9BBB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คำตอบที่ defend ได้ต่อ auditor / verifier วันนี้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2487168"/>
            <a:ext cx="10405872" cy="1078992"/>
          </a:xfrm>
          <a:prstGeom prst="roundRect">
            <a:avLst/>
          </a:prstGeom>
          <a:solidFill>
            <a:srgbClr val="10201A"/>
          </a:solidFill>
          <a:ln w="12700">
            <a:solidFill>
              <a:srgbClr val="10201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27706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6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ยังตอบว่า “ได้แน่” ไม่ได้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10912" y="2825496"/>
            <a:ext cx="5468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3FAF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และยังตอบว่า “เป็นไปไม่ได้” ก็เร็วเกินไป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3858768"/>
            <a:ext cx="3200400" cy="1874520"/>
          </a:xfrm>
          <a:prstGeom prst="roundRect">
            <a:avLst/>
          </a:prstGeom>
          <a:solidFill>
            <a:srgbClr val="10201A"/>
          </a:solidFill>
          <a:ln w="12700">
            <a:solidFill>
              <a:srgbClr val="10201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405993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4FD1A1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ใช้ 9.4 เพื่ออะไร?</a:t>
            </a:r>
            <a:endParaRPr lang="en-US" sz="940" dirty="0"/>
          </a:p>
        </p:txBody>
      </p:sp>
      <p:sp>
        <p:nvSpPr>
          <p:cNvPr id="10" name="Text 8"/>
          <p:cNvSpPr/>
          <p:nvPr/>
        </p:nvSpPr>
        <p:spPr>
          <a:xfrm>
            <a:off x="841248" y="4407408"/>
            <a:ext cx="2816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3FAF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Ex-ante benchmark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41248" y="4919472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A9BBB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ใช้เป็นค่าคาดการณ์อ้างอิงได้ แต่ต้อง label ว่าไม่ใช่ measured result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4261104" y="3858768"/>
            <a:ext cx="3200400" cy="1874520"/>
          </a:xfrm>
          <a:prstGeom prst="roundRect">
            <a:avLst/>
          </a:prstGeom>
          <a:solidFill>
            <a:srgbClr val="10201A"/>
          </a:solidFill>
          <a:ln w="12700">
            <a:solidFill>
              <a:srgbClr val="10201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43984" y="405993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F2C14E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ความน่าจะเป็นเชิงวิทยาศาสตร์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4443984" y="4407408"/>
            <a:ext cx="2816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3FAF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Optimistic for whole project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443984" y="4919472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A9BBB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baseline เป็นป่าธรรมชาติผสม มี stock อยู่แล้ว และ heterogeneous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7863840" y="3858768"/>
            <a:ext cx="3200400" cy="1874520"/>
          </a:xfrm>
          <a:prstGeom prst="roundRect">
            <a:avLst/>
          </a:prstGeom>
          <a:solidFill>
            <a:srgbClr val="10201A"/>
          </a:solidFill>
          <a:ln w="12700">
            <a:solidFill>
              <a:srgbClr val="10201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405993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2DD4B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ตัวเลขที่จะใช้เครดิตจริง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8046720" y="4407408"/>
            <a:ext cx="2816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3FAF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Measured ΔC wins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046720" y="4919472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A9BBB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ผลวัดซ้ำ + recruitment − mortality + uncertainty ต้องเป็นตัวตัดสิน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658368" y="633679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F837A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Sources: TGO Rhizophora study; DMCR 9.40 announcement; MOC2 baseline workbook; MOC2 PDD. Baseline is a snapshot—not actual annual increment.</a:t>
            </a:r>
            <a:endParaRPr lang="en-US" sz="8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F837A"/>
                </a:solidFill>
                <a:latin typeface="Noto Sans Thai"/>
                <a:ea typeface="Noto Sans Thai"/>
                <a:cs typeface="Noto Sans Tha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ha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ha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9.4 tCO₂e/ไร่/ปี — ป่าของเราจะทำได้จริงไหม?</dc:title>
  <dc:subject>MOC2 mangrove carbon assessment</dc:subject>
  <dc:creator>OpenAI / ChatGPT</dc:creator>
  <cp:lastModifiedBy>OpenAI / ChatGPT</cp:lastModifiedBy>
  <cp:revision>1</cp:revision>
  <dcterms:created xsi:type="dcterms:W3CDTF">2026-10-05T04:20:35Z</dcterms:created>
  <dcterms:modified xsi:type="dcterms:W3CDTF">2026-10-05T04:20:35Z</dcterms:modified>
</cp:coreProperties>
</file>