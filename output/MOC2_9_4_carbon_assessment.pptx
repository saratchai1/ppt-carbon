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070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0624"/>
            <a:ext cx="329184" cy="0"/>
          </a:xfrm>
          <a:prstGeom prst="line">
            <a:avLst/>
          </a:prstGeom>
          <a:noFill/>
          <a:ln w="31750">
            <a:solidFill>
              <a:srgbClr val="00FFA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274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B7C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MOC2 • CARBON SCIENCE NOTE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822960"/>
            <a:ext cx="768096" cy="76809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822960"/>
            <a:ext cx="950976" cy="95097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72016" y="822960"/>
            <a:ext cx="1133856" cy="113385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94976" y="822960"/>
            <a:ext cx="859536" cy="85953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88752" y="822960"/>
            <a:ext cx="1042416" cy="104241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19872" y="1572768"/>
            <a:ext cx="768096" cy="76809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13648" y="1572768"/>
            <a:ext cx="950976" cy="95097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36608" y="1572768"/>
            <a:ext cx="1133856" cy="113385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30384" y="1572768"/>
            <a:ext cx="859536" cy="85953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53344" y="1572768"/>
            <a:ext cx="1042416" cy="104241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55280" y="2322576"/>
            <a:ext cx="768096" cy="76809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2322576"/>
            <a:ext cx="950976" cy="95097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72016" y="2322576"/>
            <a:ext cx="1133856" cy="113385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4976" y="2322576"/>
            <a:ext cx="859536" cy="85953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88752" y="2322576"/>
            <a:ext cx="1042416" cy="104241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19872" y="3072384"/>
            <a:ext cx="768096" cy="76809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13648" y="3072384"/>
            <a:ext cx="950976" cy="95097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36608" y="3072384"/>
            <a:ext cx="1133856" cy="113385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0384" y="3072384"/>
            <a:ext cx="859536" cy="859536"/>
          </a:xfrm>
          <a:prstGeom prst="ellipse">
            <a:avLst/>
          </a:prstGeom>
          <a:solidFill>
            <a:srgbClr val="2029B8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53344" y="3072384"/>
            <a:ext cx="1042416" cy="1042416"/>
          </a:xfrm>
          <a:prstGeom prst="ellipse">
            <a:avLst/>
          </a:prstGeom>
          <a:solidFill>
            <a:srgbClr val="0F145D">
              <a:alpha val="88000"/>
            </a:srgbClr>
          </a:solidFill>
          <a:ln w="7620">
            <a:solidFill>
              <a:srgbClr val="00FFAC">
                <a:alpha val="14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900000">
            <a:off x="7360920" y="2834640"/>
            <a:ext cx="4114800" cy="2926080"/>
          </a:xfrm>
          <a:prstGeom prst="arc">
            <a:avLst/>
          </a:prstGeom>
          <a:solidFill>
            <a:srgbClr val="070A3D">
              <a:alpha val="0"/>
            </a:srgbClr>
          </a:solidFill>
          <a:ln w="127000">
            <a:solidFill>
              <a:srgbClr val="097EF6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1170432"/>
            <a:ext cx="2011680" cy="38404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12252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MOC2 • SCIENCE / MRV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58368" y="1810512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9.4</a:t>
            </a:r>
            <a:endParaRPr lang="en-US" sz="7600" dirty="0"/>
          </a:p>
        </p:txBody>
      </p:sp>
      <p:sp>
        <p:nvSpPr>
          <p:cNvPr id="26" name="Text 24"/>
          <p:cNvSpPr/>
          <p:nvPr/>
        </p:nvSpPr>
        <p:spPr>
          <a:xfrm>
            <a:off x="749808" y="29718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tCO₂e / ไร่ / ปี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58368" y="3675888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ป่าของเราจะทำได้จริงไหม?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658368" y="4443984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แยก “ค่าคาดการณ์จากแปลงปลูกโกงกาง” ออกจาก “การเพิ่มขึ้นจริงของคาร์บอนในป่าธรรมชาติของโครงการ”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58368" y="58064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BluFinance indigo theme • MOC2 baseline workbook + TGO / DMCR reference study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EXECUTIVE ANSWER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คำตอบสั้นที่สุด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9.4 เป็นไปได้ในบางแปลงหรือบางช่วงอายุ แต่ยังไม่มีหลักฐานว่าทั้งโครงการจะรักษาค่าเฉลี่ยนี้ได้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615184"/>
            <a:ext cx="10881360" cy="187452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94436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ไม่ควรสัญญา 9.4 เป็นผลจริงของทั้งโครงการ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87552" y="358444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จนกว่าจะมีการวัดซ้ำและคำนวณ ΔC/Δt ของแปลงถาวรจริง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05088" y="2926080"/>
            <a:ext cx="1508760" cy="1078992"/>
          </a:xfrm>
          <a:prstGeom prst="chevron">
            <a:avLst/>
          </a:prstGeom>
          <a:solidFill>
            <a:srgbClr val="55B6FF"/>
          </a:solidFill>
          <a:ln w="12700">
            <a:solidFill>
              <a:srgbClr val="55B6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51392" y="3172968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0A3D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OPTIMISTIC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70A3D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828032"/>
            <a:ext cx="310896" cy="310896"/>
          </a:xfrm>
          <a:prstGeom prst="ellipse">
            <a:avLst/>
          </a:prstGeom>
          <a:solidFill>
            <a:srgbClr val="00FFAC"/>
          </a:solidFill>
          <a:ln w="12700">
            <a:solidFill>
              <a:srgbClr val="00FFAC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86003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A3D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43584" y="480060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9.4 ไม่ใช่ “โตปีต่อปี”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43584" y="5111496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ต้นทางคือ Mean Annual Increment: biomass สะสม ÷ อายุแปลงปลูก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261104" y="4828032"/>
            <a:ext cx="310896" cy="310896"/>
          </a:xfrm>
          <a:prstGeom prst="ellipse">
            <a:avLst/>
          </a:prstGeom>
          <a:solidFill>
            <a:srgbClr val="097EF6"/>
          </a:solidFill>
          <a:ln w="12700">
            <a:solidFill>
              <a:srgbClr val="097EF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61104" y="486003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A3D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0016" y="480060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ชุดอ้างอิงต่างจากเรา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00016" y="5111496"/>
            <a:ext cx="3172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Rhizophora plantation อายุทราบ 7–30 ปี; ของเราเป็นป่าธรรมชาติผสม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973568" y="4828032"/>
            <a:ext cx="310896" cy="310896"/>
          </a:xfrm>
          <a:prstGeom prst="ellipse">
            <a:avLst/>
          </a:prstGeom>
          <a:solidFill>
            <a:srgbClr val="55B6FF"/>
          </a:solidFill>
          <a:ln w="12700">
            <a:solidFill>
              <a:srgbClr val="55B6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73568" y="486003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A3D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480060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ต้องพิสูจน์ด้วย monitoring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0" y="5111496"/>
            <a:ext cx="2852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เครดิตจริงขึ้นกับ stock ที่เพิ่มสุทธิ รวม recruitment และหัก mortality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Verdict: possible at some plots / periods ≠ defensible whole-project average.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WHERE 9.4 COMES FROM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9.4 มาจาก “แปลงปลูกโกงกาง”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งานศึกษาของ ทช./อบก. ใช้ 116 แปลง • 9 จังหวัด • อายุ 7–30 ปี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233172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33472"/>
            <a:ext cx="2002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แปลงที่ใช้วิเคราะห์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822960" y="28895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116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338328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แปลง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82112" y="2487168"/>
            <a:ext cx="233172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46704" y="2633472"/>
            <a:ext cx="2002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พื้นที่ศึกษา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346704" y="28895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97EF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364992" y="338328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จังหวัด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05856" y="2487168"/>
            <a:ext cx="233172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70448" y="2633472"/>
            <a:ext cx="2002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ช่วงอายุ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5870448" y="28895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7–30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5888736" y="338328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ปี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0" y="2487168"/>
            <a:ext cx="283464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4192" y="2633472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ผลเฉลี่ย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8394192" y="2889504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5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9.4 ± 4.6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412480" y="33832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tCO₂e/ไร่/ปี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4069080"/>
            <a:ext cx="10405872" cy="1371600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343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เกณฑ์คัดข้อมูลสำคัญ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46634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ตัดออก 8 แปลง — เพราะสัดส่วนโกงกางต่ำกว่าร้อยละ 80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15000" y="444398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reference population จึงเข้มข้นไปทาง Rhizophora plantation มากกว่าป่าธรรมชาติผสมของเรา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Source: TGO Rhizophora study; DMCR 9.40 announcement.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CONCEPT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เลขเดียวกัน แต่ความหมายคนละแบบ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9.4 ไม่ควรถูกอ่านว่า “ป่าของเราต้องโตเพิ่ม 9.4 ทุกปี”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5074920" cy="32918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9320" y="2487168"/>
            <a:ext cx="5074920" cy="32918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761488"/>
            <a:ext cx="1965960" cy="38404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81635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TGO REFERENCE • MAI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72784" y="2761488"/>
            <a:ext cx="2423160" cy="38404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28163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B6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OUR CREDIT • PERIODIC CHANGE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32688" y="33832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MAI = Biomass ที่อายุ a ÷ 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32688" y="4059936"/>
            <a:ext cx="4251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ค่าเฉลี่ยตั้งแต่เริ่มปลูกจนถึงอายุปัจจุบัน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051560" y="5074920"/>
            <a:ext cx="3794760" cy="0"/>
          </a:xfrm>
          <a:prstGeom prst="line">
            <a:avLst/>
          </a:prstGeom>
          <a:noFill/>
          <a:ln w="50800">
            <a:solidFill>
              <a:srgbClr val="3036A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005840" y="4965192"/>
            <a:ext cx="210312" cy="210312"/>
          </a:xfrm>
          <a:prstGeom prst="ellipse">
            <a:avLst/>
          </a:prstGeom>
          <a:solidFill>
            <a:srgbClr val="00FFAC"/>
          </a:solidFill>
          <a:ln w="12700">
            <a:solidFill>
              <a:srgbClr val="00FFA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3712" y="4965192"/>
            <a:ext cx="210312" cy="210312"/>
          </a:xfrm>
          <a:prstGeom prst="ellipse">
            <a:avLst/>
          </a:prstGeom>
          <a:solidFill>
            <a:srgbClr val="00FFAC"/>
          </a:solidFill>
          <a:ln w="12700">
            <a:solidFill>
              <a:srgbClr val="00FFAC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2784" y="33832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Increment = (Cₜ − C₀) ÷ Δt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72784" y="405993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การเปลี่ยนแปลงจริงในช่วง monitoring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19088" y="5074920"/>
            <a:ext cx="3794760" cy="0"/>
          </a:xfrm>
          <a:prstGeom prst="line">
            <a:avLst/>
          </a:prstGeom>
          <a:noFill/>
          <a:ln w="50800">
            <a:solidFill>
              <a:srgbClr val="3036A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0" y="4965192"/>
            <a:ext cx="210312" cy="210312"/>
          </a:xfrm>
          <a:prstGeom prst="ellipse">
            <a:avLst/>
          </a:prstGeom>
          <a:solidFill>
            <a:srgbClr val="55B6FF"/>
          </a:solidFill>
          <a:ln w="12700">
            <a:solidFill>
              <a:srgbClr val="55B6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9528" y="4965192"/>
            <a:ext cx="210312" cy="210312"/>
          </a:xfrm>
          <a:prstGeom prst="ellipse">
            <a:avLst/>
          </a:prstGeom>
          <a:solidFill>
            <a:srgbClr val="55B6FF"/>
          </a:solidFill>
          <a:ln w="12700">
            <a:solidFill>
              <a:srgbClr val="55B6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TGO formula: MAIWT = WTop+R / a; carbon = MAI × 0.47; CO₂ = carbon × 3.67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REFERENCE VARIABILITY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แม้ในแปลงปลูกอ้างอิง 9.4 ก็ไม่ใช่ค่าคงที่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ค่ารายชั้นอายุ/จังหวัดกระจายประมาณ 3.5–19.1 tCO₂e/ไร่/ปี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10405872" cy="3456432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486400"/>
            <a:ext cx="9738360" cy="0"/>
          </a:xfrm>
          <a:prstGeom prst="line">
            <a:avLst/>
          </a:prstGeom>
          <a:noFill/>
          <a:ln w="12700">
            <a:solidFill>
              <a:srgbClr val="3036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538581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4743450"/>
            <a:ext cx="9738360" cy="0"/>
          </a:xfrm>
          <a:prstGeom prst="line">
            <a:avLst/>
          </a:prstGeom>
          <a:noFill/>
          <a:ln w="12700">
            <a:solidFill>
              <a:srgbClr val="3036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464286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14400" y="4000500"/>
            <a:ext cx="9738360" cy="0"/>
          </a:xfrm>
          <a:prstGeom prst="line">
            <a:avLst/>
          </a:prstGeom>
          <a:noFill/>
          <a:ln w="12700">
            <a:solidFill>
              <a:srgbClr val="3036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9991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14400" y="3257550"/>
            <a:ext cx="9738360" cy="0"/>
          </a:xfrm>
          <a:prstGeom prst="line">
            <a:avLst/>
          </a:prstGeom>
          <a:noFill/>
          <a:ln w="12700">
            <a:solidFill>
              <a:srgbClr val="3036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15696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2514600"/>
            <a:ext cx="9738360" cy="0"/>
          </a:xfrm>
          <a:prstGeom prst="line">
            <a:avLst/>
          </a:prstGeom>
          <a:noFill/>
          <a:ln w="12700">
            <a:solidFill>
              <a:srgbClr val="3036A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41401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4400" y="5486400"/>
            <a:ext cx="0" cy="-2971800"/>
          </a:xfrm>
          <a:prstGeom prst="line">
            <a:avLst/>
          </a:prstGeom>
          <a:noFill/>
          <a:ln w="7620">
            <a:solidFill>
              <a:srgbClr val="3036A3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5559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84621" y="5486400"/>
            <a:ext cx="0" cy="-2971800"/>
          </a:xfrm>
          <a:prstGeom prst="line">
            <a:avLst/>
          </a:prstGeom>
          <a:noFill/>
          <a:ln w="7620">
            <a:solidFill>
              <a:srgbClr val="3036A3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83453" y="5559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301656" y="5486400"/>
            <a:ext cx="0" cy="-2971800"/>
          </a:xfrm>
          <a:prstGeom prst="line">
            <a:avLst/>
          </a:prstGeom>
          <a:noFill/>
          <a:ln w="7620">
            <a:solidFill>
              <a:srgbClr val="3036A3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00488" y="5559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18690" y="5486400"/>
            <a:ext cx="0" cy="-2971800"/>
          </a:xfrm>
          <a:prstGeom prst="line">
            <a:avLst/>
          </a:prstGeom>
          <a:noFill/>
          <a:ln w="7620">
            <a:solidFill>
              <a:srgbClr val="3036A3">
                <a:alpha val="5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522" y="5559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535725" y="5486400"/>
            <a:ext cx="0" cy="-2971800"/>
          </a:xfrm>
          <a:prstGeom prst="line">
            <a:avLst/>
          </a:prstGeom>
          <a:noFill/>
          <a:ln w="7620">
            <a:solidFill>
              <a:srgbClr val="3036A3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4557" y="5559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0652760" y="5486400"/>
            <a:ext cx="0" cy="-2971800"/>
          </a:xfrm>
          <a:prstGeom prst="line">
            <a:avLst/>
          </a:prstGeom>
          <a:noFill/>
          <a:ln w="7620">
            <a:solidFill>
              <a:srgbClr val="3036A3">
                <a:alpha val="5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51592" y="55595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7F8E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14400" y="4089654"/>
            <a:ext cx="9738360" cy="0"/>
          </a:xfrm>
          <a:prstGeom prst="line">
            <a:avLst/>
          </a:prstGeom>
          <a:noFill/>
          <a:ln w="29210">
            <a:solidFill>
              <a:srgbClr val="55B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32520" y="377875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5B6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ค่าเฉลี่ย 9.4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4108" y="3875913"/>
            <a:ext cx="100584" cy="100584"/>
          </a:xfrm>
          <a:prstGeom prst="ellipse">
            <a:avLst/>
          </a:prstGeom>
          <a:solidFill>
            <a:srgbClr val="00FFAC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4108" y="4336542"/>
            <a:ext cx="100584" cy="100584"/>
          </a:xfrm>
          <a:prstGeom prst="ellipse">
            <a:avLst/>
          </a:prstGeom>
          <a:solidFill>
            <a:srgbClr val="00FFAC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87515" y="3326130"/>
            <a:ext cx="100584" cy="100584"/>
          </a:xfrm>
          <a:prstGeom prst="ellipse">
            <a:avLst/>
          </a:prstGeom>
          <a:solidFill>
            <a:srgbClr val="00FFAC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87515" y="4366260"/>
            <a:ext cx="100584" cy="100584"/>
          </a:xfrm>
          <a:prstGeom prst="ellipse">
            <a:avLst/>
          </a:prstGeom>
          <a:solidFill>
            <a:srgbClr val="00FFAC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34329" y="3667887"/>
            <a:ext cx="100584" cy="100584"/>
          </a:xfrm>
          <a:prstGeom prst="ellipse">
            <a:avLst/>
          </a:prstGeom>
          <a:solidFill>
            <a:srgbClr val="00FFAC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81143" y="2598039"/>
            <a:ext cx="100584" cy="100584"/>
          </a:xfrm>
          <a:prstGeom prst="ellipse">
            <a:avLst/>
          </a:prstGeom>
          <a:solidFill>
            <a:srgbClr val="00FFAC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04550" y="2716911"/>
            <a:ext cx="100584" cy="100584"/>
          </a:xfrm>
          <a:prstGeom prst="ellipse">
            <a:avLst/>
          </a:prstGeom>
          <a:solidFill>
            <a:srgbClr val="097EF6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51364" y="3058668"/>
            <a:ext cx="100584" cy="100584"/>
          </a:xfrm>
          <a:prstGeom prst="ellipse">
            <a:avLst/>
          </a:prstGeom>
          <a:solidFill>
            <a:srgbClr val="097EF6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4991" y="4826889"/>
            <a:ext cx="100584" cy="100584"/>
          </a:xfrm>
          <a:prstGeom prst="ellipse">
            <a:avLst/>
          </a:prstGeom>
          <a:solidFill>
            <a:srgbClr val="097EF6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91805" y="4916043"/>
            <a:ext cx="100584" cy="100584"/>
          </a:xfrm>
          <a:prstGeom prst="ellipse">
            <a:avLst/>
          </a:prstGeom>
          <a:solidFill>
            <a:srgbClr val="097EF6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332247" y="4604004"/>
            <a:ext cx="100584" cy="100584"/>
          </a:xfrm>
          <a:prstGeom prst="ellipse">
            <a:avLst/>
          </a:prstGeom>
          <a:solidFill>
            <a:srgbClr val="097EF6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602468" y="4098798"/>
            <a:ext cx="100584" cy="100584"/>
          </a:xfrm>
          <a:prstGeom prst="ellipse">
            <a:avLst/>
          </a:prstGeom>
          <a:solidFill>
            <a:srgbClr val="097EF6">
              <a:alpha val="92000"/>
            </a:srgbClr>
          </a:solidFill>
          <a:ln w="5080">
            <a:solidFill>
              <a:srgbClr val="F0F6F7">
                <a:alpha val="3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64040" y="2697480"/>
            <a:ext cx="658368" cy="38404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55480" y="275234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5C8A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3.5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222992" y="2697480"/>
            <a:ext cx="713232" cy="38404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14432" y="27523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19.1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A single average should not be treated as a site-specific growth rate.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OUR BASELINE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Baseline ของเราบอกว่า “ป่าไม่เหมือนกันหมด”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32 แปลงตัวอย่าง • 6 ชั้นภูมิ • คาร์บอนสะสมต่างกันมาก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7315200" cy="3520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5234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อ่าวไทย / มาก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2971800" y="2880360"/>
            <a:ext cx="4526280" cy="0"/>
          </a:xfrm>
          <a:prstGeom prst="line">
            <a:avLst/>
          </a:prstGeom>
          <a:noFill/>
          <a:ln w="13970">
            <a:solidFill>
              <a:srgbClr val="3036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57685" y="2880360"/>
            <a:ext cx="2557851" cy="0"/>
          </a:xfrm>
          <a:prstGeom prst="line">
            <a:avLst/>
          </a:prstGeom>
          <a:noFill/>
          <a:ln w="68580">
            <a:solidFill>
              <a:srgbClr val="00FFA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52226" y="2816352"/>
            <a:ext cx="128016" cy="128016"/>
          </a:xfrm>
          <a:prstGeom prst="ellipse">
            <a:avLst/>
          </a:prstGeom>
          <a:solidFill>
            <a:srgbClr val="F0F6F7"/>
          </a:solidFill>
          <a:ln w="12700">
            <a:solidFill>
              <a:srgbClr val="F0F6F7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88688" y="2752344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54.6</a:t>
            </a:r>
            <a:endParaRPr lang="en-US" sz="940" dirty="0"/>
          </a:p>
        </p:txBody>
      </p:sp>
      <p:sp>
        <p:nvSpPr>
          <p:cNvPr id="11" name="Text 9"/>
          <p:cNvSpPr/>
          <p:nvPr/>
        </p:nvSpPr>
        <p:spPr>
          <a:xfrm>
            <a:off x="932688" y="3227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อ่าวไทย / กลาง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2971800" y="3355848"/>
            <a:ext cx="4526280" cy="0"/>
          </a:xfrm>
          <a:prstGeom prst="line">
            <a:avLst/>
          </a:prstGeom>
          <a:noFill/>
          <a:ln w="13970">
            <a:solidFill>
              <a:srgbClr val="3036A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41673" y="3355848"/>
            <a:ext cx="423459" cy="0"/>
          </a:xfrm>
          <a:prstGeom prst="line">
            <a:avLst/>
          </a:prstGeom>
          <a:noFill/>
          <a:ln w="68580">
            <a:solidFill>
              <a:srgbClr val="097E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5874" y="3291840"/>
            <a:ext cx="128016" cy="128016"/>
          </a:xfrm>
          <a:prstGeom prst="ellipse">
            <a:avLst/>
          </a:prstGeom>
          <a:solidFill>
            <a:srgbClr val="F0F6F7"/>
          </a:solidFill>
          <a:ln w="12700">
            <a:solidFill>
              <a:srgbClr val="F0F6F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8284" y="3227832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97EF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29.4</a:t>
            </a:r>
            <a:endParaRPr lang="en-US" sz="940" dirty="0"/>
          </a:p>
        </p:txBody>
      </p:sp>
      <p:sp>
        <p:nvSpPr>
          <p:cNvPr id="16" name="Text 14"/>
          <p:cNvSpPr/>
          <p:nvPr/>
        </p:nvSpPr>
        <p:spPr>
          <a:xfrm>
            <a:off x="932688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อ่าวไทย / น้อย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2971800" y="3831336"/>
            <a:ext cx="4526280" cy="0"/>
          </a:xfrm>
          <a:prstGeom prst="line">
            <a:avLst/>
          </a:prstGeom>
          <a:noFill/>
          <a:ln w="13970">
            <a:solidFill>
              <a:srgbClr val="3036A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75904" y="3831336"/>
            <a:ext cx="274091" cy="0"/>
          </a:xfrm>
          <a:prstGeom prst="line">
            <a:avLst/>
          </a:prstGeom>
          <a:noFill/>
          <a:ln w="68580">
            <a:solidFill>
              <a:srgbClr val="00FF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1767" y="3767328"/>
            <a:ext cx="128016" cy="128016"/>
          </a:xfrm>
          <a:prstGeom prst="ellipse">
            <a:avLst/>
          </a:prstGeom>
          <a:solidFill>
            <a:srgbClr val="F0F6F7"/>
          </a:solidFill>
          <a:ln w="12700">
            <a:solidFill>
              <a:srgbClr val="F0F6F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3148" y="370332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5.0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932688" y="41788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อันดามัน / มาก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2971800" y="4306824"/>
            <a:ext cx="4526280" cy="0"/>
          </a:xfrm>
          <a:prstGeom prst="line">
            <a:avLst/>
          </a:prstGeom>
          <a:noFill/>
          <a:ln w="13970">
            <a:solidFill>
              <a:srgbClr val="3036A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19674" y="4306824"/>
            <a:ext cx="1742618" cy="0"/>
          </a:xfrm>
          <a:prstGeom prst="line">
            <a:avLst/>
          </a:prstGeom>
          <a:noFill/>
          <a:ln w="68580">
            <a:solidFill>
              <a:srgbClr val="00FFA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11717" y="4242816"/>
            <a:ext cx="128016" cy="128016"/>
          </a:xfrm>
          <a:prstGeom prst="ellipse">
            <a:avLst/>
          </a:prstGeom>
          <a:solidFill>
            <a:srgbClr val="F0F6F7"/>
          </a:solidFill>
          <a:ln w="12700">
            <a:solidFill>
              <a:srgbClr val="F0F6F7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35444" y="4178808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71.7</a:t>
            </a:r>
            <a:endParaRPr lang="en-US" sz="940" dirty="0"/>
          </a:p>
        </p:txBody>
      </p:sp>
      <p:sp>
        <p:nvSpPr>
          <p:cNvPr id="26" name="Text 24"/>
          <p:cNvSpPr/>
          <p:nvPr/>
        </p:nvSpPr>
        <p:spPr>
          <a:xfrm>
            <a:off x="932688" y="465429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อันดามัน / กลาง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2971800" y="4782312"/>
            <a:ext cx="4526280" cy="0"/>
          </a:xfrm>
          <a:prstGeom prst="line">
            <a:avLst/>
          </a:prstGeom>
          <a:noFill/>
          <a:ln w="13970">
            <a:solidFill>
              <a:srgbClr val="3036A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93798" y="4782312"/>
            <a:ext cx="808192" cy="0"/>
          </a:xfrm>
          <a:prstGeom prst="line">
            <a:avLst/>
          </a:prstGeom>
          <a:noFill/>
          <a:ln w="68580">
            <a:solidFill>
              <a:srgbClr val="097E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81834" y="4718304"/>
            <a:ext cx="128016" cy="128016"/>
          </a:xfrm>
          <a:prstGeom prst="ellipse">
            <a:avLst/>
          </a:prstGeom>
          <a:solidFill>
            <a:srgbClr val="F0F6F7"/>
          </a:solidFill>
          <a:ln w="12700">
            <a:solidFill>
              <a:srgbClr val="F0F6F7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75143" y="4654296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97EF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41.2</a:t>
            </a:r>
            <a:endParaRPr lang="en-US" sz="940" dirty="0"/>
          </a:p>
        </p:txBody>
      </p:sp>
      <p:sp>
        <p:nvSpPr>
          <p:cNvPr id="31" name="Text 29"/>
          <p:cNvSpPr/>
          <p:nvPr/>
        </p:nvSpPr>
        <p:spPr>
          <a:xfrm>
            <a:off x="932688" y="512978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อันดามัน / น้อย</a:t>
            </a:r>
            <a:endParaRPr lang="en-US" sz="1030" dirty="0"/>
          </a:p>
        </p:txBody>
      </p:sp>
      <p:sp>
        <p:nvSpPr>
          <p:cNvPr id="32" name="Shape 30"/>
          <p:cNvSpPr/>
          <p:nvPr/>
        </p:nvSpPr>
        <p:spPr>
          <a:xfrm>
            <a:off x="2971800" y="5257800"/>
            <a:ext cx="4526280" cy="0"/>
          </a:xfrm>
          <a:prstGeom prst="line">
            <a:avLst/>
          </a:prstGeom>
          <a:noFill/>
          <a:ln w="13970">
            <a:solidFill>
              <a:srgbClr val="3036A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97449" y="5257800"/>
            <a:ext cx="2097679" cy="0"/>
          </a:xfrm>
          <a:prstGeom prst="line">
            <a:avLst/>
          </a:prstGeom>
          <a:noFill/>
          <a:ln w="68580">
            <a:solidFill>
              <a:srgbClr val="FF5C8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58814" y="5193792"/>
            <a:ext cx="128016" cy="128016"/>
          </a:xfrm>
          <a:prstGeom prst="ellipse">
            <a:avLst/>
          </a:prstGeom>
          <a:solidFill>
            <a:srgbClr val="F0F6F7"/>
          </a:solidFill>
          <a:ln w="12700">
            <a:solidFill>
              <a:srgbClr val="F0F6F7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68280" y="5129784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F5C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18.9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8247888" y="2487168"/>
            <a:ext cx="283464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0" y="2633472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พื้นที่โครงการ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8412480" y="2889504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6,775.53</a:t>
            </a:r>
            <a:endParaRPr lang="en-US" sz="2700" dirty="0"/>
          </a:p>
        </p:txBody>
      </p:sp>
      <p:sp>
        <p:nvSpPr>
          <p:cNvPr id="39" name="Text 37"/>
          <p:cNvSpPr/>
          <p:nvPr/>
        </p:nvSpPr>
        <p:spPr>
          <a:xfrm>
            <a:off x="8430768" y="33832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ไร่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47888" y="3730752"/>
            <a:ext cx="283464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12480" y="38770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Baseline tree carbon</a:t>
            </a:r>
            <a:endParaRPr lang="en-US" sz="1030" dirty="0"/>
          </a:p>
        </p:txBody>
      </p:sp>
      <p:sp>
        <p:nvSpPr>
          <p:cNvPr id="42" name="Text 40"/>
          <p:cNvSpPr/>
          <p:nvPr/>
        </p:nvSpPr>
        <p:spPr>
          <a:xfrm>
            <a:off x="8412480" y="4133088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97EF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362,962.81</a:t>
            </a:r>
            <a:endParaRPr lang="en-US" sz="2700" dirty="0"/>
          </a:p>
        </p:txBody>
      </p:sp>
      <p:sp>
        <p:nvSpPr>
          <p:cNvPr id="43" name="Text 41"/>
          <p:cNvSpPr/>
          <p:nvPr/>
        </p:nvSpPr>
        <p:spPr>
          <a:xfrm>
            <a:off x="8430768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tCO₂e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247888" y="4974336"/>
            <a:ext cx="2834640" cy="123444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0" y="512064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เฉลี่ยถ่วงพื้นที่</a:t>
            </a:r>
            <a:endParaRPr lang="en-US" sz="1030" dirty="0"/>
          </a:p>
        </p:txBody>
      </p:sp>
      <p:sp>
        <p:nvSpPr>
          <p:cNvPr id="46" name="Text 44"/>
          <p:cNvSpPr/>
          <p:nvPr/>
        </p:nvSpPr>
        <p:spPr>
          <a:xfrm>
            <a:off x="8412480" y="5376672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5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53.57</a:t>
            </a:r>
            <a:endParaRPr lang="en-US" sz="2700" dirty="0"/>
          </a:p>
        </p:txBody>
      </p:sp>
      <p:sp>
        <p:nvSpPr>
          <p:cNvPr id="47" name="Text 45"/>
          <p:cNvSpPr/>
          <p:nvPr/>
        </p:nvSpPr>
        <p:spPr>
          <a:xfrm>
            <a:off x="8430768" y="58704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tCO₂e/ไร่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Range bars = min–max across baseline plots; dot = mean. This is stock variability, not future growth variability.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SCALE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ถ้าตีความ 9.4 เป็น “เพิ่มจริงใน 1 ปี” มันใหญ่แค่ไหน?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เทียบกับคาร์บอนสะสมของต้นไม้ในปีฐาน เฉลี่ย 53.57 tCO₂e/ไร่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10405872" cy="3529584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8163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Baseline stock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3182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0F6F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53.57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429000" y="3182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5B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+ 9.4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40680" y="31272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5C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= +17.5%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32688" y="46360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นี่ไม่ใช่การบอกว่า DBH ต้องเพิ่ม 17.5%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501091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เพราะ biomass–DBH เป็นสมการไม่เชิงเส้น และ stock ยังเปลี่ยนจาก recruitment / mortality ด้วย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7882128" y="2770632"/>
            <a:ext cx="2697480" cy="2377440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301752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INTERPRETATION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65592" y="3438144"/>
            <a:ext cx="20848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9.4 เป็น “hurdle ที่สูง”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สำหรับป่าที่มี stock อยู่แล้ว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53.57 = weighted baseline tree-carbon stock from the 32-plot MOC2 workbook.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PROOF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วิธีพิสูจน์ว่าเราได้ 9.4 หรือไม่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ใช้แปลงถาวรเดิมและวัดซ้ำ ไม่ใช่เดาจากอายุป่า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9808" y="251460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70432" y="2642616"/>
            <a:ext cx="384048" cy="0"/>
          </a:xfrm>
          <a:prstGeom prst="line">
            <a:avLst/>
          </a:prstGeom>
          <a:noFill/>
          <a:ln w="22860">
            <a:solidFill>
              <a:srgbClr val="00FF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82496" y="24871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กลับไปแปลงเดิม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24528" y="2487168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ใช้ permanent plots / tags เดิม</a:t>
            </a:r>
            <a:endParaRPr lang="en-US" sz="1110" dirty="0"/>
          </a:p>
        </p:txBody>
      </p:sp>
      <p:sp>
        <p:nvSpPr>
          <p:cNvPr id="9" name="Text 7"/>
          <p:cNvSpPr/>
          <p:nvPr/>
        </p:nvSpPr>
        <p:spPr>
          <a:xfrm>
            <a:off x="749808" y="306324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70432" y="3191256"/>
            <a:ext cx="384048" cy="0"/>
          </a:xfrm>
          <a:prstGeom prst="line">
            <a:avLst/>
          </a:prstGeom>
          <a:noFill/>
          <a:ln w="22860">
            <a:solidFill>
              <a:srgbClr val="00FF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82496" y="30358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วัด DBH ซ้ำ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24528" y="3035808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protocol และเกณฑ์เดียวกับ baseline</a:t>
            </a:r>
            <a:endParaRPr lang="en-US" sz="1110" dirty="0"/>
          </a:p>
        </p:txBody>
      </p:sp>
      <p:sp>
        <p:nvSpPr>
          <p:cNvPr id="13" name="Text 11"/>
          <p:cNvSpPr/>
          <p:nvPr/>
        </p:nvSpPr>
        <p:spPr>
          <a:xfrm>
            <a:off x="749808" y="3611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70432" y="3739896"/>
            <a:ext cx="384048" cy="0"/>
          </a:xfrm>
          <a:prstGeom prst="line">
            <a:avLst/>
          </a:prstGeom>
          <a:noFill/>
          <a:ln w="22860">
            <a:solidFill>
              <a:srgbClr val="00FF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82496" y="3584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เก็บ recruitment + mortality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24528" y="3584448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ต้นเข้าใหม่และต้นตายต้องอยู่ใน net change</a:t>
            </a:r>
            <a:endParaRPr lang="en-US" sz="1110" dirty="0"/>
          </a:p>
        </p:txBody>
      </p:sp>
      <p:sp>
        <p:nvSpPr>
          <p:cNvPr id="17" name="Text 15"/>
          <p:cNvSpPr/>
          <p:nvPr/>
        </p:nvSpPr>
        <p:spPr>
          <a:xfrm>
            <a:off x="749808" y="4160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170432" y="4288536"/>
            <a:ext cx="384048" cy="0"/>
          </a:xfrm>
          <a:prstGeom prst="line">
            <a:avLst/>
          </a:prstGeom>
          <a:noFill/>
          <a:ln w="22860">
            <a:solidFill>
              <a:srgbClr val="00FFA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82496" y="41330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คำนวณ Cₜ และ ΔC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24528" y="4133088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allometry เดิม → stock รอบใหม่ → ลบ baseline</a:t>
            </a:r>
            <a:endParaRPr lang="en-US" sz="1110" dirty="0"/>
          </a:p>
        </p:txBody>
      </p:sp>
      <p:sp>
        <p:nvSpPr>
          <p:cNvPr id="21" name="Text 19"/>
          <p:cNvSpPr/>
          <p:nvPr/>
        </p:nvSpPr>
        <p:spPr>
          <a:xfrm>
            <a:off x="749808" y="470916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70432" y="4837176"/>
            <a:ext cx="384048" cy="0"/>
          </a:xfrm>
          <a:prstGeom prst="line">
            <a:avLst/>
          </a:prstGeom>
          <a:noFill/>
          <a:ln w="22860">
            <a:solidFill>
              <a:srgbClr val="00F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82496" y="46817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ถ่วงตาม strata + uncertainty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24528" y="4681728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รวม 6 ชั้นภูมิและรายงาน precision</a:t>
            </a:r>
            <a:endParaRPr lang="en-US" sz="1110" dirty="0"/>
          </a:p>
        </p:txBody>
      </p:sp>
      <p:sp>
        <p:nvSpPr>
          <p:cNvPr id="25" name="Text 23"/>
          <p:cNvSpPr/>
          <p:nvPr/>
        </p:nvSpPr>
        <p:spPr>
          <a:xfrm>
            <a:off x="749808" y="525780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70432" y="5385816"/>
            <a:ext cx="384048" cy="0"/>
          </a:xfrm>
          <a:prstGeom prst="line">
            <a:avLst/>
          </a:prstGeom>
          <a:noFill/>
          <a:ln w="22860">
            <a:solidFill>
              <a:srgbClr val="00FFA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82496" y="52303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เทียบกับ 9.4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24528" y="5230368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weighted ΔC/Δt ≥ 9.4 จึงถือว่าพิสูจน์ได้</a:t>
            </a:r>
            <a:endParaRPr lang="en-US" sz="1110" dirty="0"/>
          </a:p>
        </p:txBody>
      </p:sp>
      <p:sp>
        <p:nvSpPr>
          <p:cNvPr id="29" name="Shape 27"/>
          <p:cNvSpPr/>
          <p:nvPr/>
        </p:nvSpPr>
        <p:spPr>
          <a:xfrm>
            <a:off x="7973568" y="5632704"/>
            <a:ext cx="3090672" cy="56692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0" y="57515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PASS CONDITION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400032" y="57058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30" b="1" dirty="0">
                <a:solidFill>
                  <a:srgbClr val="F0F6F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Weighted ΔC/Δt ≥ 9.4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Use the monitoring protocol and methodology version approved for the registered project.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ดังนั้น “จะได้ 9.4 ไหม?”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คำตอบที่ defend ได้ต่อ auditor / verifier วันนี้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10405872" cy="1078992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7706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5C8A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ยังตอบว่า “ได้แน่” ไม่ได้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10912" y="2825496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และยังตอบว่า “เป็นไปไม่ได้” ก็เร็วเกินไป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8368" y="3858768"/>
            <a:ext cx="3200400" cy="187452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05993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ใช้ 9.4 เพื่ออะไร?</a:t>
            </a:r>
            <a:endParaRPr lang="en-US" sz="940" dirty="0"/>
          </a:p>
        </p:txBody>
      </p:sp>
      <p:sp>
        <p:nvSpPr>
          <p:cNvPr id="10" name="Text 8"/>
          <p:cNvSpPr/>
          <p:nvPr/>
        </p:nvSpPr>
        <p:spPr>
          <a:xfrm>
            <a:off x="841248" y="4407408"/>
            <a:ext cx="2816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Ex-ante benchmark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491947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ใช้เป็นค่าคาดการณ์อ้างอิงได้ แต่ต้อง label ว่าไม่ใช่ measured result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4261104" y="3858768"/>
            <a:ext cx="3200400" cy="187452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405993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55B6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ความน่าจะเป็นเชิงวิทยาศาสตร์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4443984" y="4407408"/>
            <a:ext cx="2816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Optimistic for whole project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43984" y="491947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baseline เป็นป่าธรรมชาติผสม มี stock อยู่แล้ว และ heterogeneous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7863840" y="3858768"/>
            <a:ext cx="3200400" cy="1874520"/>
          </a:xfrm>
          <a:prstGeom prst="roundRect">
            <a:avLst/>
          </a:prstGeom>
          <a:solidFill>
            <a:srgbClr val="11165D"/>
          </a:solidFill>
          <a:ln w="12700">
            <a:solidFill>
              <a:srgbClr val="11165D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0" y="405993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97EF6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ตัวเลขที่จะใช้เครดิตจริง</a:t>
            </a:r>
            <a:endParaRPr lang="en-US" sz="940" dirty="0"/>
          </a:p>
        </p:txBody>
      </p:sp>
      <p:sp>
        <p:nvSpPr>
          <p:cNvPr id="18" name="Text 16"/>
          <p:cNvSpPr/>
          <p:nvPr/>
        </p:nvSpPr>
        <p:spPr>
          <a:xfrm>
            <a:off x="8046720" y="4407408"/>
            <a:ext cx="2816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Measured ΔC wins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0" y="491947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ผลวัดซ้ำ + recruitment − mortality + uncertainty ต้องเป็นตัวตัดสิน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Recommendation wording: 9.4 is a reference benchmark; project performance will be determined by monitoring-based stock change.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FFAC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SOURCES &amp; CAVEATS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แหล่งข้อมูลและข้อจำกัด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4708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Baseline เป็น snapshot ก่อนเริ่มโครงการ จึงยังสรุป actual annual increment ไม่ได้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560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234440" y="24871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TGO / DMCR study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01568" y="248716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Rhizophora spp. plantation study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8705088" y="248716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116 plots; MAI formula = biomass / age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34440" y="3072384"/>
            <a:ext cx="9555480" cy="0"/>
          </a:xfrm>
          <a:prstGeom prst="line">
            <a:avLst/>
          </a:prstGeom>
          <a:noFill/>
          <a:ln w="7620">
            <a:solidFill>
              <a:srgbClr val="3036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3375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3444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DMCR announcement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01568" y="32644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9.40 tCO₂eq/ไร่-ปี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8705088" y="32644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used as ex-ante estimate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234440" y="3849624"/>
            <a:ext cx="9555480" cy="0"/>
          </a:xfrm>
          <a:prstGeom prst="line">
            <a:avLst/>
          </a:prstGeom>
          <a:noFill/>
          <a:ln w="7620">
            <a:solidFill>
              <a:srgbClr val="3036A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1148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234440" y="40416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MOC2 baseline workbook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01568" y="40416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MOC2_VSD-25-06-24 3.xlsx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8705088" y="404164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32 plots; 6 strata; baseline stock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234440" y="4626864"/>
            <a:ext cx="9555480" cy="0"/>
          </a:xfrm>
          <a:prstGeom prst="line">
            <a:avLst/>
          </a:prstGeom>
          <a:noFill/>
          <a:ln w="7620">
            <a:solidFill>
              <a:srgbClr val="3036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FFA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234440" y="48188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F6F7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MOC2 PDD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01568" y="481888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8E0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T-VER-S-F001-PDD V2.1-MOC2-25-06-24 1.pdf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8705088" y="481888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C6D2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heterogeneous area; stratified sampling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8368" y="5760720"/>
            <a:ext cx="10405872" cy="475488"/>
          </a:xfrm>
          <a:prstGeom prst="roundRect">
            <a:avLst/>
          </a:prstGeom>
          <a:solidFill>
            <a:srgbClr val="171C8F"/>
          </a:solidFill>
          <a:ln w="12700">
            <a:solidFill>
              <a:srgbClr val="171C8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5879592"/>
            <a:ext cx="9930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55B6FF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ข้อจำกัด: ผลจริงต้องมาจาก repeated permanent plots และคำนวณ (Cₜ − C₀) / Δt โดยรวม recruitment, mortality และ uncertainty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658368" y="6336792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7F8EDB"/>
                </a:solidFill>
                <a:latin typeface="Noto Sans Thai" pitchFamily="34" charset="0"/>
                <a:ea typeface="Noto Sans Thai" pitchFamily="34" charset="-122"/>
                <a:cs typeface="Noto Sans Thai" pitchFamily="34" charset="-120"/>
              </a:rPr>
              <a:t>Prepared for technical discussion; not a verification opinion or credit issuance decision.</a:t>
            </a:r>
            <a:endParaRPr lang="en-US" sz="8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3968" y="644652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F8EDB"/>
                </a:solidFill>
                <a:latin typeface="Noto Sans Thai"/>
                <a:ea typeface="Noto Sans Thai"/>
                <a:cs typeface="Noto Sans Tha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Tha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ha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9.4 tCO₂e/ไร่/ปี — ป่าของเราจะทำได้จริงไหม?</dc:title>
  <dc:subject>MOC2 9.4 tCO2e/rai/year assessment</dc:subject>
  <dc:creator>OpenAI / ChatGPT</dc:creator>
  <cp:lastModifiedBy>OpenAI / ChatGPT</cp:lastModifiedBy>
  <cp:revision>1</cp:revision>
  <dcterms:created xsi:type="dcterms:W3CDTF">2026-10-05T04:46:16Z</dcterms:created>
  <dcterms:modified xsi:type="dcterms:W3CDTF">2026-10-05T04:46:16Z</dcterms:modified>
</cp:coreProperties>
</file>